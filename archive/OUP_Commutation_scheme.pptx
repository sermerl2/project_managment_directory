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omments/modernComment_100_0.xml" ContentType="application/vnd.ms-powerpoint.comments+xml"/>
  <Override PartName="/ppt/comments/modernComment_102_0.xml" ContentType="application/vnd.ms-powerpoint.comments+xml"/>
  <Override PartName="/ppt/comments/modernComment_112_D6549332.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9" r:id="rId1"/>
    <p:sldMasterId id="2147483671" r:id="rId2"/>
    <p:sldMasterId id="2147483654" r:id="rId3"/>
  </p:sldMasterIdLst>
  <p:notesMasterIdLst>
    <p:notesMasterId r:id="rId15"/>
  </p:notesMasterIdLst>
  <p:handoutMasterIdLst>
    <p:handoutMasterId r:id="rId16"/>
  </p:handoutMasterIdLst>
  <p:sldIdLst>
    <p:sldId id="256" r:id="rId4"/>
    <p:sldId id="282" r:id="rId5"/>
    <p:sldId id="258" r:id="rId6"/>
    <p:sldId id="283" r:id="rId7"/>
    <p:sldId id="284" r:id="rId8"/>
    <p:sldId id="285" r:id="rId9"/>
    <p:sldId id="286" r:id="rId10"/>
    <p:sldId id="287" r:id="rId11"/>
    <p:sldId id="274" r:id="rId12"/>
    <p:sldId id="257" r:id="rId13"/>
    <p:sldId id="279" r:id="rId14"/>
  </p:sldIdLst>
  <p:sldSz cx="12192000" cy="6858000"/>
  <p:notesSz cx="6858000" cy="9144000"/>
  <p:embeddedFontLst>
    <p:embeddedFont>
      <p:font typeface="Calibri" panose="020F0502020204030204" pitchFamily="34" charset="0"/>
      <p:regular r:id="rId17"/>
      <p:bold r:id="rId18"/>
      <p:italic r:id="rId19"/>
      <p:boldItalic r:id="rId20"/>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9" userDrawn="1">
          <p15:clr>
            <a:srgbClr val="A4A3A4"/>
          </p15:clr>
        </p15:guide>
        <p15:guide id="2" pos="75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129A22-45F3-880B-F90E-554A6C20C2E8}" name="Митрофанов Сергей" initials="МС" userId="8484ef2bc9e6ab6a" providerId="Windows Live"/>
  <p188:author id="{AED1C15F-9A68-12DE-EE8E-F10480BC9278}" name="Айнур Исмагилов" initials="АИ" userId="deb015211b1e5a2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45C7"/>
    <a:srgbClr val="0055A2"/>
    <a:srgbClr val="FF1637"/>
    <a:srgbClr val="A65299"/>
    <a:srgbClr val="453783"/>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4713" autoAdjust="0"/>
  </p:normalViewPr>
  <p:slideViewPr>
    <p:cSldViewPr snapToGrid="0">
      <p:cViewPr varScale="1">
        <p:scale>
          <a:sx n="99" d="100"/>
          <a:sy n="99" d="100"/>
        </p:scale>
        <p:origin x="1122" y="90"/>
      </p:cViewPr>
      <p:guideLst>
        <p:guide orient="horz" pos="119"/>
        <p:guide pos="756"/>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5" d="100"/>
          <a:sy n="85" d="100"/>
        </p:scale>
        <p:origin x="-383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presProps" Target="presProps.xml"/><Relationship Id="rId42"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font" Target="fonts/font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3CDD58CF-BB15-4C33-A5E1-A2099AA77CD4}" authorId="{AED1C15F-9A68-12DE-EE8E-F10480BC9278}" created="2023-11-18T12:28:40.287">
    <pc:sldMkLst xmlns:pc="http://schemas.microsoft.com/office/powerpoint/2013/main/command">
      <pc:docMk/>
      <pc:sldMk cId="0" sldId="256"/>
    </pc:sldMkLst>
    <p188:replyLst>
      <p188:reply id="{379978D6-8B3D-47B4-8C5D-6DA7E42CAD29}" authorId="{BC129A22-45F3-880B-F90E-554A6C20C2E8}" created="2023-11-21T06:34:48.108">
        <p188:txBody>
          <a:bodyPr/>
          <a:lstStyle/>
          <a:p>
            <a:r>
              <a:rPr lang="ru-RU"/>
              <a:t>+</a:t>
            </a:r>
          </a:p>
        </p188:txBody>
      </p188:reply>
    </p188:replyLst>
    <p188:txBody>
      <a:bodyPr/>
      <a:lstStyle/>
      <a:p>
        <a:r>
          <a:rPr lang="ru-RU"/>
          <a:t>Название конференции
Внизу поставить город и год</a:t>
        </a:r>
      </a:p>
    </p188:txBody>
    <p188:extLst>
      <p:ext xmlns:p="http://schemas.openxmlformats.org/presentationml/2006/main" uri="{57CB4572-C831-44C2-8A1C-0ADB6CCDFE69}">
        <p223:reactions xmlns:p223="http://schemas.microsoft.com/office/powerpoint/2022/03/main">
          <p223:rxn type="👍">
            <p223:instance time="2023-11-18T12:44:25.691" authorId="{BC129A22-45F3-880B-F90E-554A6C20C2E8}"/>
          </p223:rxn>
        </p223:reactions>
      </p:ext>
    </p188:extLst>
  </p188:cm>
  <p188:cm id="{0CABCBC8-F9B2-41D9-855B-C579E90955DB}" authorId="{BC129A22-45F3-880B-F90E-554A6C20C2E8}" created="2023-11-18T12:45:40.068">
    <pc:sldMkLst xmlns:pc="http://schemas.microsoft.com/office/powerpoint/2013/main/command">
      <pc:docMk/>
      <pc:sldMk cId="0" sldId="256"/>
    </pc:sldMkLst>
    <p188:replyLst>
      <p188:reply id="{813B80B1-60E2-423A-9950-CDB99952F405}" authorId="{BC129A22-45F3-880B-F90E-554A6C20C2E8}" created="2023-11-21T06:34:51.827">
        <p188:txBody>
          <a:bodyPr/>
          <a:lstStyle/>
          <a:p>
            <a:r>
              <a:rPr lang="ru-RU"/>
              <a:t>+</a:t>
            </a:r>
          </a:p>
        </p188:txBody>
      </p188:reply>
    </p188:replyLst>
    <p188:txBody>
      <a:bodyPr/>
      <a:lstStyle/>
      <a:p>
        <a:r>
          <a:rPr lang="ru-RU"/>
          <a:t>Нумерация слайда</a:t>
        </a:r>
      </a:p>
    </p188:txBody>
  </p188:cm>
  <p188:cm id="{810535EE-6A1B-4687-8474-2AC186040E7E}" authorId="{BC129A22-45F3-880B-F90E-554A6C20C2E8}" created="2023-11-18T13:00:22.470">
    <pc:sldMkLst xmlns:pc="http://schemas.microsoft.com/office/powerpoint/2013/main/command">
      <pc:docMk/>
      <pc:sldMk cId="0" sldId="256"/>
    </pc:sldMkLst>
    <p188:replyLst>
      <p188:reply id="{C2E80D16-5A10-4203-8C58-E34BEA74FFF8}" authorId="{BC129A22-45F3-880B-F90E-554A6C20C2E8}" created="2023-11-21T06:34:54.718">
        <p188:txBody>
          <a:bodyPr/>
          <a:lstStyle/>
          <a:p>
            <a:r>
              <a:rPr lang="ru-RU"/>
              <a:t>+</a:t>
            </a:r>
          </a:p>
        </p188:txBody>
      </p188:reply>
    </p188:replyLst>
    <p188:txBody>
      <a:bodyPr/>
      <a:lstStyle/>
      <a:p>
        <a:r>
          <a:rPr lang="ru-RU"/>
          <a:t>Создать слайд актуальности</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1C400C24-CFD6-4CC0-AF7E-1441601CC842}" authorId="{BC129A22-45F3-880B-F90E-554A6C20C2E8}" created="2023-11-18T13:08:57.891">
    <pc:sldMkLst xmlns:pc="http://schemas.microsoft.com/office/powerpoint/2013/main/command">
      <pc:docMk/>
      <pc:sldMk cId="0" sldId="258"/>
    </pc:sldMkLst>
    <p188:replyLst>
      <p188:reply id="{4F401AE8-218D-45AB-A212-DCCA3D013D0A}" authorId="{BC129A22-45F3-880B-F90E-554A6C20C2E8}" created="2023-11-21T06:35:03.062">
        <p188:txBody>
          <a:bodyPr/>
          <a:lstStyle/>
          <a:p>
            <a:r>
              <a:rPr lang="ru-RU"/>
              <a:t>+</a:t>
            </a:r>
          </a:p>
        </p188:txBody>
      </p188:reply>
    </p188:replyLst>
    <p188:txBody>
      <a:bodyPr/>
      <a:lstStyle/>
      <a:p>
        <a:r>
          <a:rPr lang="ru-RU"/>
          <a:t>Сойдет</a:t>
        </a:r>
      </a:p>
    </p188:txBody>
  </p188:cm>
</p188:cmLst>
</file>

<file path=ppt/comments/modernComment_112_D6549332.xml><?xml version="1.0" encoding="utf-8"?>
<p188:cmLst xmlns:a="http://schemas.openxmlformats.org/drawingml/2006/main" xmlns:r="http://schemas.openxmlformats.org/officeDocument/2006/relationships" xmlns:p188="http://schemas.microsoft.com/office/powerpoint/2018/8/main">
  <p188:cm id="{86F80378-CCD5-4F70-8AEC-8D1418D9611B}" authorId="{BC129A22-45F3-880B-F90E-554A6C20C2E8}" created="2023-11-18T13:15:50.450">
    <pc:sldMkLst xmlns:pc="http://schemas.microsoft.com/office/powerpoint/2013/main/command">
      <pc:docMk/>
      <pc:sldMk cId="3595866930" sldId="274"/>
    </pc:sldMkLst>
    <p188:replyLst>
      <p188:reply id="{0E3EDBD9-D1F1-4EFF-9D87-5681B7AA3074}" authorId="{BC129A22-45F3-880B-F90E-554A6C20C2E8}" created="2023-11-21T06:36:30.205">
        <p188:txBody>
          <a:bodyPr/>
          <a:lstStyle/>
          <a:p>
            <a:r>
              <a:rPr lang="ru-RU"/>
              <a:t>+</a:t>
            </a:r>
          </a:p>
        </p188:txBody>
      </p188:reply>
    </p188:replyLst>
    <p188:txBody>
      <a:bodyPr/>
      <a:lstStyle/>
      <a:p>
        <a:r>
          <a:rPr lang="ru-RU"/>
          <a:t>Идти по задачам</a:t>
        </a:r>
      </a:p>
    </p188:txBody>
  </p188:cm>
  <p188:cm id="{C4B1B2E9-0636-4A98-B0B4-3482394E348A}" authorId="{BC129A22-45F3-880B-F90E-554A6C20C2E8}" created="2023-11-18T13:16:30.889">
    <pc:sldMkLst xmlns:pc="http://schemas.microsoft.com/office/powerpoint/2013/main/command">
      <pc:docMk/>
      <pc:sldMk cId="3595866930" sldId="274"/>
    </pc:sldMkLst>
    <p188:txBody>
      <a:bodyPr/>
      <a:lstStyle/>
      <a:p>
        <a:r>
          <a:rPr lang="ru-RU"/>
          <a:t>В течение недели скинуть</a:t>
        </a:r>
      </a:p>
    </p188:txBody>
  </p188:cm>
  <p188:cm id="{B9417FB9-638E-4B41-A690-6588741C6652}" authorId="{BC129A22-45F3-880B-F90E-554A6C20C2E8}" created="2023-11-21T06:31:18.711">
    <ac:txMkLst xmlns:ac="http://schemas.microsoft.com/office/drawing/2013/main/command">
      <pc:docMk xmlns:pc="http://schemas.microsoft.com/office/powerpoint/2013/main/command"/>
      <pc:sldMk xmlns:pc="http://schemas.microsoft.com/office/powerpoint/2013/main/command" cId="3595866930" sldId="274"/>
      <ac:spMk id="3" creationId="{89DD551A-A423-3C9A-CF4C-7C59A2DB938B}"/>
      <ac:txMk cp="201">
        <ac:context len="473" hash="788253464"/>
      </ac:txMk>
    </ac:txMkLst>
    <p188:pos x="5666153" y="2217615"/>
    <p188:txBody>
      <a:bodyPr/>
      <a:lstStyle/>
      <a:p>
        <a:r>
          <a:rPr lang="ru-RU"/>
          <a:t>Все таки это вычисление погрешности, а не СКО</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1DF500-496F-43D4-B206-BA6342C43E17}" type="datetimeFigureOut">
              <a:rPr lang="ru-RU" smtClean="0"/>
              <a:pPr/>
              <a:t>24.12.2024</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304304-6349-4AC2-82A3-F7248CDD28A7}" type="slidenum">
              <a:rPr lang="ru-RU" smtClean="0"/>
              <a:pPr/>
              <a:t>‹#›</a:t>
            </a:fld>
            <a:endParaRPr lang="ru-RU"/>
          </a:p>
        </p:txBody>
      </p:sp>
    </p:spTree>
    <p:extLst>
      <p:ext uri="{BB962C8B-B14F-4D97-AF65-F5344CB8AC3E}">
        <p14:creationId xmlns:p14="http://schemas.microsoft.com/office/powerpoint/2010/main" val="23535728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352B97-3543-46BA-AE8C-66A614F9D244}" type="datetimeFigureOut">
              <a:rPr lang="ru-RU" smtClean="0"/>
              <a:pPr/>
              <a:t>24.12.2024</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46207B-5363-441D-A5A0-31687AF66F8B}" type="slidenum">
              <a:rPr lang="ru-RU" smtClean="0"/>
              <a:pPr/>
              <a:t>‹#›</a:t>
            </a:fld>
            <a:endParaRPr lang="ru-RU"/>
          </a:p>
        </p:txBody>
      </p:sp>
    </p:spTree>
    <p:extLst>
      <p:ext uri="{BB962C8B-B14F-4D97-AF65-F5344CB8AC3E}">
        <p14:creationId xmlns:p14="http://schemas.microsoft.com/office/powerpoint/2010/main" val="120864880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1">
    <p:spTree>
      <p:nvGrpSpPr>
        <p:cNvPr id="1" name=""/>
        <p:cNvGrpSpPr/>
        <p:nvPr/>
      </p:nvGrpSpPr>
      <p:grpSpPr>
        <a:xfrm>
          <a:off x="0" y="0"/>
          <a:ext cx="0" cy="0"/>
          <a:chOff x="0" y="0"/>
          <a:chExt cx="0" cy="0"/>
        </a:xfrm>
      </p:grpSpPr>
      <p:sp>
        <p:nvSpPr>
          <p:cNvPr id="6" name="Текст 6"/>
          <p:cNvSpPr>
            <a:spLocks noGrp="1"/>
          </p:cNvSpPr>
          <p:nvPr>
            <p:ph type="body" sz="quarter" idx="10" hasCustomPrompt="1"/>
          </p:nvPr>
        </p:nvSpPr>
        <p:spPr>
          <a:xfrm>
            <a:off x="575730" y="2091791"/>
            <a:ext cx="7010401" cy="1404940"/>
          </a:xfrm>
          <a:prstGeom prst="rect">
            <a:avLst/>
          </a:prstGeom>
        </p:spPr>
        <p:txBody>
          <a:bodyPr/>
          <a:lstStyle>
            <a:lvl1pPr marL="0" indent="0">
              <a:spcBef>
                <a:spcPts val="0"/>
              </a:spcBef>
              <a:buNone/>
              <a:defRPr sz="4400" b="1">
                <a:solidFill>
                  <a:srgbClr val="0F45C7"/>
                </a:solidFill>
              </a:defRPr>
            </a:lvl1pPr>
          </a:lstStyle>
          <a:p>
            <a:pPr lvl="0"/>
            <a:r>
              <a:rPr lang="ru-RU" dirty="0"/>
              <a:t>Название</a:t>
            </a:r>
          </a:p>
          <a:p>
            <a:pPr lvl="0"/>
            <a:r>
              <a:rPr lang="ru-RU" dirty="0"/>
              <a:t>темы</a:t>
            </a:r>
          </a:p>
        </p:txBody>
      </p:sp>
      <p:sp>
        <p:nvSpPr>
          <p:cNvPr id="7" name="Текст 15"/>
          <p:cNvSpPr>
            <a:spLocks noGrp="1"/>
          </p:cNvSpPr>
          <p:nvPr>
            <p:ph type="body" sz="quarter" idx="12" hasCustomPrompt="1"/>
          </p:nvPr>
        </p:nvSpPr>
        <p:spPr>
          <a:xfrm>
            <a:off x="576264" y="3623734"/>
            <a:ext cx="3775603" cy="855133"/>
          </a:xfrm>
          <a:prstGeom prst="rect">
            <a:avLst/>
          </a:prstGeom>
        </p:spPr>
        <p:txBody>
          <a:bodyPr/>
          <a:lstStyle>
            <a:lvl1pPr>
              <a:spcBef>
                <a:spcPts val="0"/>
              </a:spcBef>
              <a:buNone/>
              <a:defRPr sz="1800" baseline="0">
                <a:solidFill>
                  <a:schemeClr val="tx1"/>
                </a:solidFill>
                <a:latin typeface="Calibri" pitchFamily="34" charset="0"/>
                <a:cs typeface="Calibri" pitchFamily="34" charset="0"/>
              </a:defRPr>
            </a:lvl1pPr>
          </a:lstStyle>
          <a:p>
            <a:pPr lvl="0"/>
            <a:r>
              <a:rPr lang="ru-RU" dirty="0"/>
              <a:t>• ФИО,</a:t>
            </a:r>
          </a:p>
          <a:p>
            <a:pPr lvl="0"/>
            <a:r>
              <a:rPr lang="ru-RU" dirty="0"/>
              <a:t>   должность</a:t>
            </a:r>
          </a:p>
        </p:txBody>
      </p:sp>
    </p:spTree>
    <p:extLst>
      <p:ext uri="{BB962C8B-B14F-4D97-AF65-F5344CB8AC3E}">
        <p14:creationId xmlns:p14="http://schemas.microsoft.com/office/powerpoint/2010/main" val="46925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итульный слайд 2">
    <p:spTree>
      <p:nvGrpSpPr>
        <p:cNvPr id="1" name=""/>
        <p:cNvGrpSpPr/>
        <p:nvPr/>
      </p:nvGrpSpPr>
      <p:grpSpPr>
        <a:xfrm>
          <a:off x="0" y="0"/>
          <a:ext cx="0" cy="0"/>
          <a:chOff x="0" y="0"/>
          <a:chExt cx="0" cy="0"/>
        </a:xfrm>
      </p:grpSpPr>
      <p:sp>
        <p:nvSpPr>
          <p:cNvPr id="7" name="Текст 6"/>
          <p:cNvSpPr>
            <a:spLocks noGrp="1"/>
          </p:cNvSpPr>
          <p:nvPr>
            <p:ph type="body" sz="quarter" idx="10" hasCustomPrompt="1"/>
          </p:nvPr>
        </p:nvSpPr>
        <p:spPr>
          <a:xfrm>
            <a:off x="575730" y="2091791"/>
            <a:ext cx="7010401" cy="1404940"/>
          </a:xfrm>
          <a:prstGeom prst="rect">
            <a:avLst/>
          </a:prstGeom>
        </p:spPr>
        <p:txBody>
          <a:bodyPr/>
          <a:lstStyle>
            <a:lvl1pPr marL="0" indent="0">
              <a:spcBef>
                <a:spcPts val="0"/>
              </a:spcBef>
              <a:buNone/>
              <a:defRPr sz="4400" b="1">
                <a:solidFill>
                  <a:schemeClr val="bg1"/>
                </a:solidFill>
              </a:defRPr>
            </a:lvl1pPr>
          </a:lstStyle>
          <a:p>
            <a:pPr lvl="0"/>
            <a:r>
              <a:rPr lang="ru-RU" dirty="0"/>
              <a:t>Название</a:t>
            </a:r>
          </a:p>
          <a:p>
            <a:pPr lvl="0"/>
            <a:r>
              <a:rPr lang="ru-RU" dirty="0"/>
              <a:t>темы</a:t>
            </a:r>
          </a:p>
        </p:txBody>
      </p:sp>
      <p:sp>
        <p:nvSpPr>
          <p:cNvPr id="11" name="Текст 15"/>
          <p:cNvSpPr>
            <a:spLocks noGrp="1"/>
          </p:cNvSpPr>
          <p:nvPr>
            <p:ph type="body" sz="quarter" idx="12" hasCustomPrompt="1"/>
          </p:nvPr>
        </p:nvSpPr>
        <p:spPr>
          <a:xfrm>
            <a:off x="576264" y="3623734"/>
            <a:ext cx="3775603" cy="855133"/>
          </a:xfrm>
          <a:prstGeom prst="rect">
            <a:avLst/>
          </a:prstGeom>
        </p:spPr>
        <p:txBody>
          <a:bodyPr/>
          <a:lstStyle>
            <a:lvl1pPr>
              <a:spcBef>
                <a:spcPts val="0"/>
              </a:spcBef>
              <a:buNone/>
              <a:defRPr sz="1800" baseline="0">
                <a:solidFill>
                  <a:schemeClr val="bg1"/>
                </a:solidFill>
                <a:latin typeface="Calibri" pitchFamily="34" charset="0"/>
                <a:cs typeface="Calibri" pitchFamily="34" charset="0"/>
              </a:defRPr>
            </a:lvl1pPr>
          </a:lstStyle>
          <a:p>
            <a:pPr lvl="0"/>
            <a:r>
              <a:rPr lang="ru-RU" dirty="0"/>
              <a:t>• ФИО,</a:t>
            </a:r>
          </a:p>
          <a:p>
            <a:pPr lvl="0"/>
            <a:r>
              <a:rPr lang="ru-RU" dirty="0"/>
              <a:t>   должность</a:t>
            </a:r>
          </a:p>
        </p:txBody>
      </p:sp>
    </p:spTree>
    <p:extLst>
      <p:ext uri="{BB962C8B-B14F-4D97-AF65-F5344CB8AC3E}">
        <p14:creationId xmlns:p14="http://schemas.microsoft.com/office/powerpoint/2010/main" val="469257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маркированный список, текст">
    <p:spTree>
      <p:nvGrpSpPr>
        <p:cNvPr id="1" name=""/>
        <p:cNvGrpSpPr/>
        <p:nvPr/>
      </p:nvGrpSpPr>
      <p:grpSpPr>
        <a:xfrm>
          <a:off x="0" y="0"/>
          <a:ext cx="0" cy="0"/>
          <a:chOff x="0" y="0"/>
          <a:chExt cx="0" cy="0"/>
        </a:xfrm>
      </p:grpSpPr>
      <p:sp>
        <p:nvSpPr>
          <p:cNvPr id="8" name="Заголовок 7"/>
          <p:cNvSpPr>
            <a:spLocks noGrp="1"/>
          </p:cNvSpPr>
          <p:nvPr>
            <p:ph type="title" hasCustomPrompt="1"/>
          </p:nvPr>
        </p:nvSpPr>
        <p:spPr>
          <a:xfrm>
            <a:off x="457197" y="587901"/>
            <a:ext cx="3175001" cy="1206715"/>
          </a:xfrm>
          <a:prstGeom prst="rect">
            <a:avLst/>
          </a:prstGeom>
        </p:spPr>
        <p:txBody>
          <a:bodyPr/>
          <a:lstStyle>
            <a:lvl1pPr algn="l">
              <a:defRPr sz="4000" b="1" spc="100" baseline="0">
                <a:solidFill>
                  <a:srgbClr val="0F45C7"/>
                </a:solidFill>
                <a:latin typeface="Calibri" pitchFamily="34" charset="0"/>
                <a:ea typeface="Roboto" pitchFamily="2" charset="0"/>
                <a:cs typeface="Calibri" pitchFamily="34" charset="0"/>
              </a:defRPr>
            </a:lvl1pPr>
          </a:lstStyle>
          <a:p>
            <a:r>
              <a:rPr lang="ru-RU" dirty="0"/>
              <a:t>ЗАГОЛОВОК</a:t>
            </a:r>
            <a:br>
              <a:rPr lang="ru-RU" dirty="0"/>
            </a:br>
            <a:r>
              <a:rPr lang="ru-RU" dirty="0"/>
              <a:t>СЛАЙДА</a:t>
            </a:r>
          </a:p>
        </p:txBody>
      </p:sp>
      <p:sp>
        <p:nvSpPr>
          <p:cNvPr id="12" name="Текст 16"/>
          <p:cNvSpPr>
            <a:spLocks noGrp="1"/>
          </p:cNvSpPr>
          <p:nvPr>
            <p:ph type="body" sz="quarter" idx="11"/>
          </p:nvPr>
        </p:nvSpPr>
        <p:spPr>
          <a:xfrm>
            <a:off x="457729" y="2049463"/>
            <a:ext cx="4419071" cy="3817937"/>
          </a:xfrm>
          <a:prstGeom prst="rect">
            <a:avLst/>
          </a:prstGeom>
        </p:spPr>
        <p:txBody>
          <a:bodyPr/>
          <a:lstStyle>
            <a:lvl1pPr marL="0" indent="180000">
              <a:spcBef>
                <a:spcPts val="0"/>
              </a:spcBef>
              <a:buFont typeface="Arial" pitchFamily="34" charset="0"/>
              <a:buChar char="•"/>
              <a:defRPr sz="1800">
                <a:latin typeface="Calibri" pitchFamily="34" charset="0"/>
                <a:cs typeface="Calibri" pitchFamily="34" charset="0"/>
              </a:defRPr>
            </a:lvl1pPr>
          </a:lstStyle>
          <a:p>
            <a:pPr indent="180000">
              <a:buFont typeface="Arial" pitchFamily="34" charset="0"/>
              <a:buChar char="•"/>
            </a:pPr>
            <a:endParaRPr lang="ru-RU" dirty="0">
              <a:latin typeface="Calibri" pitchFamily="34" charset="0"/>
              <a:cs typeface="Calibri" pitchFamily="34" charset="0"/>
            </a:endParaRPr>
          </a:p>
        </p:txBody>
      </p:sp>
      <p:sp>
        <p:nvSpPr>
          <p:cNvPr id="16" name="Текст 15"/>
          <p:cNvSpPr>
            <a:spLocks noGrp="1"/>
          </p:cNvSpPr>
          <p:nvPr>
            <p:ph type="body" sz="quarter" idx="12" hasCustomPrompt="1"/>
          </p:nvPr>
        </p:nvSpPr>
        <p:spPr>
          <a:xfrm>
            <a:off x="5326063" y="2057400"/>
            <a:ext cx="6391275" cy="3843338"/>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Текст слайда</a:t>
            </a:r>
          </a:p>
        </p:txBody>
      </p:sp>
    </p:spTree>
    <p:extLst>
      <p:ext uri="{BB962C8B-B14F-4D97-AF65-F5344CB8AC3E}">
        <p14:creationId xmlns:p14="http://schemas.microsoft.com/office/powerpoint/2010/main" val="469257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Заголовок и текст">
    <p:spTree>
      <p:nvGrpSpPr>
        <p:cNvPr id="1" name=""/>
        <p:cNvGrpSpPr/>
        <p:nvPr/>
      </p:nvGrpSpPr>
      <p:grpSpPr>
        <a:xfrm>
          <a:off x="0" y="0"/>
          <a:ext cx="0" cy="0"/>
          <a:chOff x="0" y="0"/>
          <a:chExt cx="0" cy="0"/>
        </a:xfrm>
      </p:grpSpPr>
      <p:sp>
        <p:nvSpPr>
          <p:cNvPr id="8" name="Заголовок 7"/>
          <p:cNvSpPr>
            <a:spLocks noGrp="1"/>
          </p:cNvSpPr>
          <p:nvPr>
            <p:ph type="title" hasCustomPrompt="1"/>
          </p:nvPr>
        </p:nvSpPr>
        <p:spPr>
          <a:xfrm>
            <a:off x="457197" y="587901"/>
            <a:ext cx="3175001" cy="1206715"/>
          </a:xfrm>
          <a:prstGeom prst="rect">
            <a:avLst/>
          </a:prstGeom>
        </p:spPr>
        <p:txBody>
          <a:bodyPr/>
          <a:lstStyle>
            <a:lvl1pPr algn="l">
              <a:defRPr sz="4000" b="1" spc="100" baseline="0">
                <a:solidFill>
                  <a:srgbClr val="0F45C7"/>
                </a:solidFill>
                <a:latin typeface="Calibri" pitchFamily="34" charset="0"/>
                <a:ea typeface="Roboto" pitchFamily="2" charset="0"/>
                <a:cs typeface="Calibri" pitchFamily="34" charset="0"/>
              </a:defRPr>
            </a:lvl1pPr>
          </a:lstStyle>
          <a:p>
            <a:r>
              <a:rPr lang="ru-RU" dirty="0"/>
              <a:t>ЗАГОЛОВОК</a:t>
            </a:r>
            <a:br>
              <a:rPr lang="ru-RU" dirty="0"/>
            </a:br>
            <a:r>
              <a:rPr lang="ru-RU" dirty="0"/>
              <a:t>СЛАЙДА</a:t>
            </a:r>
          </a:p>
        </p:txBody>
      </p:sp>
      <p:sp>
        <p:nvSpPr>
          <p:cNvPr id="6" name="Текст 15"/>
          <p:cNvSpPr>
            <a:spLocks noGrp="1"/>
          </p:cNvSpPr>
          <p:nvPr>
            <p:ph type="body" sz="quarter" idx="12" hasCustomPrompt="1"/>
          </p:nvPr>
        </p:nvSpPr>
        <p:spPr>
          <a:xfrm>
            <a:off x="466197" y="2057400"/>
            <a:ext cx="6391275" cy="3843338"/>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Текст слайда</a:t>
            </a:r>
          </a:p>
        </p:txBody>
      </p:sp>
    </p:spTree>
    <p:extLst>
      <p:ext uri="{BB962C8B-B14F-4D97-AF65-F5344CB8AC3E}">
        <p14:creationId xmlns:p14="http://schemas.microsoft.com/office/powerpoint/2010/main" val="469257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текст и картинка справа">
    <p:spTree>
      <p:nvGrpSpPr>
        <p:cNvPr id="1" name=""/>
        <p:cNvGrpSpPr/>
        <p:nvPr/>
      </p:nvGrpSpPr>
      <p:grpSpPr>
        <a:xfrm>
          <a:off x="0" y="0"/>
          <a:ext cx="0" cy="0"/>
          <a:chOff x="0" y="0"/>
          <a:chExt cx="0" cy="0"/>
        </a:xfrm>
      </p:grpSpPr>
      <p:sp>
        <p:nvSpPr>
          <p:cNvPr id="7" name="Рисунок 6"/>
          <p:cNvSpPr>
            <a:spLocks noGrp="1"/>
          </p:cNvSpPr>
          <p:nvPr>
            <p:ph type="pic" sz="quarter" idx="11" hasCustomPrompt="1"/>
          </p:nvPr>
        </p:nvSpPr>
        <p:spPr>
          <a:xfrm>
            <a:off x="6611938" y="737130"/>
            <a:ext cx="5580062" cy="5029200"/>
          </a:xfrm>
          <a:prstGeom prst="rect">
            <a:avLst/>
          </a:prstGeom>
        </p:spPr>
        <p:txBody>
          <a:bodyPr/>
          <a:lstStyle>
            <a:lvl1pPr>
              <a:buNone/>
              <a:defRPr sz="1800" baseline="0">
                <a:solidFill>
                  <a:srgbClr val="0F45C7"/>
                </a:solidFill>
                <a:latin typeface="Calibri" pitchFamily="34" charset="0"/>
                <a:ea typeface="Roboto" pitchFamily="2" charset="0"/>
                <a:cs typeface="Calibri" pitchFamily="34" charset="0"/>
              </a:defRPr>
            </a:lvl1pPr>
          </a:lstStyle>
          <a:p>
            <a:r>
              <a:rPr lang="ru-RU" dirty="0"/>
              <a:t>Картинка (нажмите на иконку)</a:t>
            </a:r>
          </a:p>
        </p:txBody>
      </p:sp>
      <p:sp>
        <p:nvSpPr>
          <p:cNvPr id="14" name="Текст 15"/>
          <p:cNvSpPr>
            <a:spLocks noGrp="1"/>
          </p:cNvSpPr>
          <p:nvPr>
            <p:ph type="body" sz="quarter" idx="12" hasCustomPrompt="1"/>
          </p:nvPr>
        </p:nvSpPr>
        <p:spPr>
          <a:xfrm>
            <a:off x="466198" y="2048933"/>
            <a:ext cx="5689069" cy="3750734"/>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Текст слайда</a:t>
            </a:r>
          </a:p>
        </p:txBody>
      </p:sp>
      <p:sp>
        <p:nvSpPr>
          <p:cNvPr id="15" name="Заголовок 7"/>
          <p:cNvSpPr>
            <a:spLocks noGrp="1"/>
          </p:cNvSpPr>
          <p:nvPr>
            <p:ph type="title" hasCustomPrompt="1"/>
          </p:nvPr>
        </p:nvSpPr>
        <p:spPr>
          <a:xfrm>
            <a:off x="457197" y="587901"/>
            <a:ext cx="3175001" cy="1206715"/>
          </a:xfrm>
          <a:prstGeom prst="rect">
            <a:avLst/>
          </a:prstGeom>
        </p:spPr>
        <p:txBody>
          <a:bodyPr/>
          <a:lstStyle>
            <a:lvl1pPr algn="l">
              <a:defRPr sz="4000" b="1" spc="100" baseline="0">
                <a:solidFill>
                  <a:srgbClr val="0F45C7"/>
                </a:solidFill>
                <a:latin typeface="Calibri" pitchFamily="34" charset="0"/>
                <a:ea typeface="Roboto" pitchFamily="2" charset="0"/>
                <a:cs typeface="Calibri" pitchFamily="34" charset="0"/>
              </a:defRPr>
            </a:lvl1pPr>
          </a:lstStyle>
          <a:p>
            <a:r>
              <a:rPr lang="ru-RU" dirty="0"/>
              <a:t>ЗАГОЛОВОК</a:t>
            </a:r>
            <a:br>
              <a:rPr lang="ru-RU" dirty="0"/>
            </a:br>
            <a:r>
              <a:rPr lang="ru-RU" dirty="0"/>
              <a:t>СЛАЙДА</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Заголовок, текст и картинка слева">
    <p:spTree>
      <p:nvGrpSpPr>
        <p:cNvPr id="1" name=""/>
        <p:cNvGrpSpPr/>
        <p:nvPr/>
      </p:nvGrpSpPr>
      <p:grpSpPr>
        <a:xfrm>
          <a:off x="0" y="0"/>
          <a:ext cx="0" cy="0"/>
          <a:chOff x="0" y="0"/>
          <a:chExt cx="0" cy="0"/>
        </a:xfrm>
      </p:grpSpPr>
      <p:sp>
        <p:nvSpPr>
          <p:cNvPr id="7" name="Рисунок 6"/>
          <p:cNvSpPr>
            <a:spLocks noGrp="1"/>
          </p:cNvSpPr>
          <p:nvPr>
            <p:ph type="pic" sz="quarter" idx="11" hasCustomPrompt="1"/>
          </p:nvPr>
        </p:nvSpPr>
        <p:spPr>
          <a:xfrm>
            <a:off x="0" y="737130"/>
            <a:ext cx="5580062" cy="5029200"/>
          </a:xfrm>
          <a:prstGeom prst="rect">
            <a:avLst/>
          </a:prstGeom>
        </p:spPr>
        <p:txBody>
          <a:bodyPr/>
          <a:lstStyle>
            <a:lvl1pPr>
              <a:buNone/>
              <a:defRPr sz="1800" baseline="0">
                <a:solidFill>
                  <a:srgbClr val="0F45C7"/>
                </a:solidFill>
                <a:latin typeface="Calibri" pitchFamily="34" charset="0"/>
                <a:ea typeface="Roboto" pitchFamily="2" charset="0"/>
                <a:cs typeface="Calibri" pitchFamily="34" charset="0"/>
              </a:defRPr>
            </a:lvl1pPr>
          </a:lstStyle>
          <a:p>
            <a:r>
              <a:rPr lang="ru-RU" dirty="0"/>
              <a:t>Картинка (нажмите на иконку)</a:t>
            </a:r>
          </a:p>
        </p:txBody>
      </p:sp>
      <p:sp>
        <p:nvSpPr>
          <p:cNvPr id="14" name="Заголовок 7"/>
          <p:cNvSpPr>
            <a:spLocks noGrp="1"/>
          </p:cNvSpPr>
          <p:nvPr>
            <p:ph type="title" hasCustomPrompt="1"/>
          </p:nvPr>
        </p:nvSpPr>
        <p:spPr>
          <a:xfrm>
            <a:off x="6053662" y="587901"/>
            <a:ext cx="3175001" cy="1206715"/>
          </a:xfrm>
          <a:prstGeom prst="rect">
            <a:avLst/>
          </a:prstGeom>
        </p:spPr>
        <p:txBody>
          <a:bodyPr/>
          <a:lstStyle>
            <a:lvl1pPr algn="l">
              <a:defRPr sz="4000" b="1" spc="100" baseline="0">
                <a:solidFill>
                  <a:srgbClr val="0F45C7"/>
                </a:solidFill>
                <a:latin typeface="Calibri" pitchFamily="34" charset="0"/>
                <a:ea typeface="Roboto" pitchFamily="2" charset="0"/>
                <a:cs typeface="Calibri" pitchFamily="34" charset="0"/>
              </a:defRPr>
            </a:lvl1pPr>
          </a:lstStyle>
          <a:p>
            <a:r>
              <a:rPr lang="ru-RU" dirty="0"/>
              <a:t>ЗАГОЛОВОК</a:t>
            </a:r>
            <a:br>
              <a:rPr lang="ru-RU" dirty="0"/>
            </a:br>
            <a:r>
              <a:rPr lang="ru-RU" dirty="0"/>
              <a:t>СЛАЙДА</a:t>
            </a:r>
          </a:p>
        </p:txBody>
      </p:sp>
      <p:sp>
        <p:nvSpPr>
          <p:cNvPr id="15" name="Текст 15"/>
          <p:cNvSpPr>
            <a:spLocks noGrp="1"/>
          </p:cNvSpPr>
          <p:nvPr>
            <p:ph type="body" sz="quarter" idx="12" hasCustomPrompt="1"/>
          </p:nvPr>
        </p:nvSpPr>
        <p:spPr>
          <a:xfrm>
            <a:off x="6079597" y="2048933"/>
            <a:ext cx="5689069" cy="3750734"/>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Текст слайда</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Одна картинка по середине">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2083331" y="499533"/>
            <a:ext cx="7518400" cy="4851400"/>
          </a:xfrm>
          <a:prstGeom prst="rect">
            <a:avLst/>
          </a:prstGeom>
        </p:spPr>
        <p:txBody>
          <a:bodyPr/>
          <a:lstStyle>
            <a:lvl1pPr>
              <a:buNone/>
              <a:defRPr sz="1800">
                <a:solidFill>
                  <a:srgbClr val="0F45C7"/>
                </a:solidFill>
                <a:latin typeface="Calibri" pitchFamily="34" charset="0"/>
                <a:ea typeface="Roboto" pitchFamily="2" charset="0"/>
                <a:cs typeface="Calibri" pitchFamily="34" charset="0"/>
              </a:defRPr>
            </a:lvl1pPr>
          </a:lstStyle>
          <a:p>
            <a:r>
              <a:rPr lang="ru-RU" dirty="0"/>
              <a:t>Картинка (нажмите на иконку)</a:t>
            </a:r>
          </a:p>
        </p:txBody>
      </p:sp>
      <p:sp>
        <p:nvSpPr>
          <p:cNvPr id="12" name="Текст 15"/>
          <p:cNvSpPr>
            <a:spLocks noGrp="1"/>
          </p:cNvSpPr>
          <p:nvPr>
            <p:ph type="body" sz="quarter" idx="12" hasCustomPrompt="1"/>
          </p:nvPr>
        </p:nvSpPr>
        <p:spPr>
          <a:xfrm>
            <a:off x="2083331" y="5486399"/>
            <a:ext cx="5689069" cy="355601"/>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Название картинки</a:t>
            </a:r>
          </a:p>
        </p:txBody>
      </p:sp>
    </p:spTree>
  </p:cSld>
  <p:clrMapOvr>
    <a:masterClrMapping/>
  </p:clrMapOvr>
  <p:extLst>
    <p:ext uri="{DCECCB84-F9BA-43D5-87BE-67443E8EF086}">
      <p15:sldGuideLst xmlns:p15="http://schemas.microsoft.com/office/powerpoint/2012/main">
        <p15:guide id="1" pos="130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Одна большая картинка">
    <p:spTree>
      <p:nvGrpSpPr>
        <p:cNvPr id="1" name=""/>
        <p:cNvGrpSpPr/>
        <p:nvPr/>
      </p:nvGrpSpPr>
      <p:grpSpPr>
        <a:xfrm>
          <a:off x="0" y="0"/>
          <a:ext cx="0" cy="0"/>
          <a:chOff x="0" y="0"/>
          <a:chExt cx="0" cy="0"/>
        </a:xfrm>
      </p:grpSpPr>
      <p:sp>
        <p:nvSpPr>
          <p:cNvPr id="8" name="Рисунок 7"/>
          <p:cNvSpPr>
            <a:spLocks noGrp="1"/>
          </p:cNvSpPr>
          <p:nvPr>
            <p:ph type="pic" sz="quarter" idx="10" hasCustomPrompt="1"/>
          </p:nvPr>
        </p:nvSpPr>
        <p:spPr>
          <a:xfrm>
            <a:off x="0" y="1109132"/>
            <a:ext cx="12192000" cy="5748867"/>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6" name="Текст 15"/>
          <p:cNvSpPr>
            <a:spLocks noGrp="1"/>
          </p:cNvSpPr>
          <p:nvPr>
            <p:ph type="body" sz="quarter" idx="12" hasCustomPrompt="1"/>
          </p:nvPr>
        </p:nvSpPr>
        <p:spPr>
          <a:xfrm>
            <a:off x="643997" y="584199"/>
            <a:ext cx="5689069" cy="355601"/>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Название картинки</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картинки_вар1">
    <p:spTree>
      <p:nvGrpSpPr>
        <p:cNvPr id="1" name=""/>
        <p:cNvGrpSpPr/>
        <p:nvPr/>
      </p:nvGrpSpPr>
      <p:grpSpPr>
        <a:xfrm>
          <a:off x="0" y="0"/>
          <a:ext cx="0" cy="0"/>
          <a:chOff x="0" y="0"/>
          <a:chExt cx="0" cy="0"/>
        </a:xfrm>
      </p:grpSpPr>
      <p:sp>
        <p:nvSpPr>
          <p:cNvPr id="21" name="Рисунок 13"/>
          <p:cNvSpPr>
            <a:spLocks noGrp="1"/>
          </p:cNvSpPr>
          <p:nvPr>
            <p:ph type="pic" sz="quarter" idx="10" hasCustomPrompt="1"/>
          </p:nvPr>
        </p:nvSpPr>
        <p:spPr>
          <a:xfrm>
            <a:off x="449263" y="1084262"/>
            <a:ext cx="3571875" cy="4579937"/>
          </a:xfrm>
          <a:prstGeom prst="rect">
            <a:avLst/>
          </a:prstGeom>
        </p:spPr>
        <p:txBody>
          <a:bodyPr/>
          <a:lstStyle>
            <a:lvl1pPr marL="0" indent="0">
              <a:spcBef>
                <a:spcPts val="0"/>
              </a:spcBef>
              <a:buNone/>
              <a:defRPr sz="1400">
                <a:solidFill>
                  <a:srgbClr val="0F45C7"/>
                </a:solidFill>
                <a:latin typeface="Calibri" pitchFamily="34" charset="0"/>
                <a:cs typeface="Calibri" pitchFamily="34" charset="0"/>
              </a:defRPr>
            </a:lvl1pPr>
          </a:lstStyle>
          <a:p>
            <a:r>
              <a:rPr lang="ru-RU" dirty="0"/>
              <a:t>Картинка (нажмите на иконку)</a:t>
            </a:r>
          </a:p>
        </p:txBody>
      </p:sp>
      <p:sp>
        <p:nvSpPr>
          <p:cNvPr id="22" name="Рисунок 15"/>
          <p:cNvSpPr>
            <a:spLocks noGrp="1"/>
          </p:cNvSpPr>
          <p:nvPr>
            <p:ph type="pic" sz="quarter" idx="11" hasCustomPrompt="1"/>
          </p:nvPr>
        </p:nvSpPr>
        <p:spPr>
          <a:xfrm>
            <a:off x="4410604" y="279399"/>
            <a:ext cx="3598862" cy="240506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4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23" name="Рисунок 17"/>
          <p:cNvSpPr>
            <a:spLocks noGrp="1"/>
          </p:cNvSpPr>
          <p:nvPr>
            <p:ph type="pic" sz="quarter" idx="12" hasCustomPrompt="1"/>
          </p:nvPr>
        </p:nvSpPr>
        <p:spPr>
          <a:xfrm>
            <a:off x="4402666" y="3233737"/>
            <a:ext cx="3589338" cy="2413000"/>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4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24" name="Рисунок 19"/>
          <p:cNvSpPr>
            <a:spLocks noGrp="1"/>
          </p:cNvSpPr>
          <p:nvPr>
            <p:ph type="pic" sz="quarter" idx="13" hasCustomPrompt="1"/>
          </p:nvPr>
        </p:nvSpPr>
        <p:spPr>
          <a:xfrm>
            <a:off x="8389938" y="287337"/>
            <a:ext cx="3014662" cy="456406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4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20" name="Текст 15"/>
          <p:cNvSpPr>
            <a:spLocks noGrp="1"/>
          </p:cNvSpPr>
          <p:nvPr>
            <p:ph type="body" sz="quarter" idx="14" hasCustomPrompt="1"/>
          </p:nvPr>
        </p:nvSpPr>
        <p:spPr>
          <a:xfrm>
            <a:off x="339195" y="5723467"/>
            <a:ext cx="3724805" cy="355601"/>
          </a:xfrm>
          <a:prstGeom prst="rect">
            <a:avLst/>
          </a:prstGeom>
        </p:spPr>
        <p:txBody>
          <a:bodyPr/>
          <a:lstStyle>
            <a:lvl1pPr>
              <a:spcBef>
                <a:spcPts val="0"/>
              </a:spcBef>
              <a:buNone/>
              <a:defRPr sz="1600" baseline="0">
                <a:latin typeface="Calibri" pitchFamily="34" charset="0"/>
                <a:cs typeface="Calibri" pitchFamily="34" charset="0"/>
              </a:defRPr>
            </a:lvl1pPr>
          </a:lstStyle>
          <a:p>
            <a:pPr lvl="0"/>
            <a:r>
              <a:rPr lang="ru-RU" dirty="0"/>
              <a:t>Название картинки</a:t>
            </a:r>
          </a:p>
        </p:txBody>
      </p:sp>
      <p:sp>
        <p:nvSpPr>
          <p:cNvPr id="28" name="Текст 15"/>
          <p:cNvSpPr>
            <a:spLocks noGrp="1"/>
          </p:cNvSpPr>
          <p:nvPr>
            <p:ph type="body" sz="quarter" idx="15" hasCustomPrompt="1"/>
          </p:nvPr>
        </p:nvSpPr>
        <p:spPr>
          <a:xfrm>
            <a:off x="4369330" y="5723467"/>
            <a:ext cx="3648604" cy="355601"/>
          </a:xfrm>
          <a:prstGeom prst="rect">
            <a:avLst/>
          </a:prstGeom>
        </p:spPr>
        <p:txBody>
          <a:bodyPr/>
          <a:lstStyle>
            <a:lvl1pPr>
              <a:spcBef>
                <a:spcPts val="0"/>
              </a:spcBef>
              <a:buNone/>
              <a:defRPr sz="1600" baseline="0">
                <a:latin typeface="Calibri" pitchFamily="34" charset="0"/>
                <a:cs typeface="Calibri" pitchFamily="34" charset="0"/>
              </a:defRPr>
            </a:lvl1pPr>
          </a:lstStyle>
          <a:p>
            <a:pPr lvl="0"/>
            <a:r>
              <a:rPr lang="ru-RU" dirty="0"/>
              <a:t>Название картинки</a:t>
            </a:r>
          </a:p>
        </p:txBody>
      </p:sp>
      <p:sp>
        <p:nvSpPr>
          <p:cNvPr id="31" name="Текст 15"/>
          <p:cNvSpPr>
            <a:spLocks noGrp="1"/>
          </p:cNvSpPr>
          <p:nvPr>
            <p:ph type="body" sz="quarter" idx="16" hasCustomPrompt="1"/>
          </p:nvPr>
        </p:nvSpPr>
        <p:spPr>
          <a:xfrm>
            <a:off x="4318527" y="2726266"/>
            <a:ext cx="3648604" cy="355601"/>
          </a:xfrm>
          <a:prstGeom prst="rect">
            <a:avLst/>
          </a:prstGeom>
        </p:spPr>
        <p:txBody>
          <a:bodyPr/>
          <a:lstStyle>
            <a:lvl1pPr>
              <a:spcBef>
                <a:spcPts val="0"/>
              </a:spcBef>
              <a:buNone/>
              <a:defRPr sz="1600" baseline="0">
                <a:latin typeface="Calibri" pitchFamily="34" charset="0"/>
                <a:cs typeface="Calibri" pitchFamily="34" charset="0"/>
              </a:defRPr>
            </a:lvl1pPr>
          </a:lstStyle>
          <a:p>
            <a:pPr lvl="0"/>
            <a:r>
              <a:rPr lang="ru-RU" dirty="0"/>
              <a:t>Название картинки</a:t>
            </a:r>
          </a:p>
        </p:txBody>
      </p:sp>
      <p:sp>
        <p:nvSpPr>
          <p:cNvPr id="32" name="Текст 15"/>
          <p:cNvSpPr>
            <a:spLocks noGrp="1"/>
          </p:cNvSpPr>
          <p:nvPr>
            <p:ph type="body" sz="quarter" idx="17" hasCustomPrompt="1"/>
          </p:nvPr>
        </p:nvSpPr>
        <p:spPr>
          <a:xfrm>
            <a:off x="8272461" y="4885263"/>
            <a:ext cx="3157539" cy="355601"/>
          </a:xfrm>
          <a:prstGeom prst="rect">
            <a:avLst/>
          </a:prstGeom>
        </p:spPr>
        <p:txBody>
          <a:bodyPr/>
          <a:lstStyle>
            <a:lvl1pPr>
              <a:spcBef>
                <a:spcPts val="0"/>
              </a:spcBef>
              <a:buNone/>
              <a:defRPr sz="1600" baseline="0">
                <a:latin typeface="Calibri" pitchFamily="34" charset="0"/>
                <a:cs typeface="Calibri" pitchFamily="34" charset="0"/>
              </a:defRPr>
            </a:lvl1pPr>
          </a:lstStyle>
          <a:p>
            <a:pPr lvl="0"/>
            <a:r>
              <a:rPr lang="ru-RU" dirty="0"/>
              <a:t>Название картинки</a:t>
            </a:r>
          </a:p>
        </p:txBody>
      </p:sp>
    </p:spTree>
  </p:cSld>
  <p:clrMapOvr>
    <a:masterClrMapping/>
  </p:clrMapOvr>
  <p:extLst>
    <p:ext uri="{DCECCB84-F9BA-43D5-87BE-67443E8EF086}">
      <p15:sldGuideLst xmlns:p15="http://schemas.microsoft.com/office/powerpoint/2012/main">
        <p15:guide id="1" pos="41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картинки_ вар2">
    <p:spTree>
      <p:nvGrpSpPr>
        <p:cNvPr id="1" name=""/>
        <p:cNvGrpSpPr/>
        <p:nvPr/>
      </p:nvGrpSpPr>
      <p:grpSpPr>
        <a:xfrm>
          <a:off x="0" y="0"/>
          <a:ext cx="0" cy="0"/>
          <a:chOff x="0" y="0"/>
          <a:chExt cx="0" cy="0"/>
        </a:xfrm>
      </p:grpSpPr>
      <p:sp>
        <p:nvSpPr>
          <p:cNvPr id="22" name="Рисунок 15"/>
          <p:cNvSpPr>
            <a:spLocks noGrp="1"/>
          </p:cNvSpPr>
          <p:nvPr>
            <p:ph type="pic" sz="quarter" idx="11" hasCustomPrompt="1"/>
          </p:nvPr>
        </p:nvSpPr>
        <p:spPr>
          <a:xfrm>
            <a:off x="795332" y="846137"/>
            <a:ext cx="3598862" cy="240506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6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11" name="Рисунок 15"/>
          <p:cNvSpPr>
            <a:spLocks noGrp="1"/>
          </p:cNvSpPr>
          <p:nvPr>
            <p:ph type="pic" sz="quarter" idx="18" hasCustomPrompt="1"/>
          </p:nvPr>
        </p:nvSpPr>
        <p:spPr>
          <a:xfrm>
            <a:off x="795332" y="3445404"/>
            <a:ext cx="3598862" cy="240506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6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13" name="Рисунок 15"/>
          <p:cNvSpPr>
            <a:spLocks noGrp="1"/>
          </p:cNvSpPr>
          <p:nvPr>
            <p:ph type="pic" sz="quarter" idx="19" hasCustomPrompt="1"/>
          </p:nvPr>
        </p:nvSpPr>
        <p:spPr>
          <a:xfrm>
            <a:off x="4842407" y="854604"/>
            <a:ext cx="3598862" cy="240506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6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14" name="Рисунок 15"/>
          <p:cNvSpPr>
            <a:spLocks noGrp="1"/>
          </p:cNvSpPr>
          <p:nvPr>
            <p:ph type="pic" sz="quarter" idx="20" hasCustomPrompt="1"/>
          </p:nvPr>
        </p:nvSpPr>
        <p:spPr>
          <a:xfrm>
            <a:off x="4842407" y="3453871"/>
            <a:ext cx="3598862" cy="2405063"/>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1600">
                <a:solidFill>
                  <a:srgbClr val="0F45C7"/>
                </a:solidFill>
                <a:latin typeface="Calibri" pitchFamily="34" charset="0"/>
                <a:cs typeface="Calibri" pitchFamily="34" charset="0"/>
              </a:defRPr>
            </a:lvl1pPr>
          </a:lstStyle>
          <a:p>
            <a:r>
              <a:rPr lang="ru-RU" dirty="0"/>
              <a:t>Картинка (нажмите на иконку)</a:t>
            </a:r>
          </a:p>
          <a:p>
            <a:endParaRPr lang="ru-RU" dirty="0"/>
          </a:p>
        </p:txBody>
      </p:sp>
      <p:sp>
        <p:nvSpPr>
          <p:cNvPr id="9" name="Текст 8"/>
          <p:cNvSpPr>
            <a:spLocks noGrp="1"/>
          </p:cNvSpPr>
          <p:nvPr>
            <p:ph type="body" sz="quarter" idx="21" hasCustomPrompt="1"/>
          </p:nvPr>
        </p:nvSpPr>
        <p:spPr>
          <a:xfrm>
            <a:off x="8745539" y="2412475"/>
            <a:ext cx="2921000" cy="1236130"/>
          </a:xfrm>
          <a:prstGeom prst="rect">
            <a:avLst/>
          </a:prstGeom>
        </p:spPr>
        <p:txBody>
          <a:bodyPr/>
          <a:lstStyle>
            <a:lvl1pPr marL="0" indent="-252000">
              <a:buFont typeface="+mj-lt"/>
              <a:buAutoNum type="arabicPeriod"/>
              <a:defRPr sz="1400" baseline="0">
                <a:latin typeface="Calibri" pitchFamily="34" charset="0"/>
                <a:cs typeface="Calibri" pitchFamily="34" charset="0"/>
              </a:defRPr>
            </a:lvl1pPr>
          </a:lstStyle>
          <a:p>
            <a:pPr lvl="0"/>
            <a:r>
              <a:rPr lang="ru-RU" dirty="0"/>
              <a:t>Подпись картинки</a:t>
            </a:r>
          </a:p>
          <a:p>
            <a:pPr lvl="0"/>
            <a:r>
              <a:rPr lang="ru-RU" dirty="0"/>
              <a:t>Подпись картинки</a:t>
            </a:r>
          </a:p>
        </p:txBody>
      </p:sp>
      <p:sp>
        <p:nvSpPr>
          <p:cNvPr id="19" name="Текст 8"/>
          <p:cNvSpPr>
            <a:spLocks noGrp="1"/>
          </p:cNvSpPr>
          <p:nvPr>
            <p:ph type="body" sz="quarter" idx="22" hasCustomPrompt="1"/>
          </p:nvPr>
        </p:nvSpPr>
        <p:spPr>
          <a:xfrm>
            <a:off x="473598" y="3030540"/>
            <a:ext cx="373062" cy="338666"/>
          </a:xfrm>
          <a:prstGeom prst="rect">
            <a:avLst/>
          </a:prstGeom>
        </p:spPr>
        <p:txBody>
          <a:bodyPr/>
          <a:lstStyle>
            <a:lvl1pPr>
              <a:buFont typeface="+mj-lt"/>
              <a:buNone/>
              <a:defRPr sz="1400" baseline="0">
                <a:latin typeface="Calibri" pitchFamily="34" charset="0"/>
                <a:cs typeface="Calibri" pitchFamily="34" charset="0"/>
              </a:defRPr>
            </a:lvl1pPr>
          </a:lstStyle>
          <a:p>
            <a:pPr lvl="0"/>
            <a:r>
              <a:rPr lang="en-US" dirty="0"/>
              <a:t>1.</a:t>
            </a:r>
            <a:endParaRPr lang="ru-RU" dirty="0"/>
          </a:p>
        </p:txBody>
      </p:sp>
      <p:sp>
        <p:nvSpPr>
          <p:cNvPr id="20" name="Текст 8"/>
          <p:cNvSpPr>
            <a:spLocks noGrp="1"/>
          </p:cNvSpPr>
          <p:nvPr>
            <p:ph type="body" sz="quarter" idx="23" hasCustomPrompt="1"/>
          </p:nvPr>
        </p:nvSpPr>
        <p:spPr>
          <a:xfrm>
            <a:off x="448199" y="5629808"/>
            <a:ext cx="373062" cy="338666"/>
          </a:xfrm>
          <a:prstGeom prst="rect">
            <a:avLst/>
          </a:prstGeom>
        </p:spPr>
        <p:txBody>
          <a:bodyPr/>
          <a:lstStyle>
            <a:lvl1pPr>
              <a:buFont typeface="+mj-lt"/>
              <a:buNone/>
              <a:defRPr sz="1400" baseline="0">
                <a:latin typeface="Calibri" pitchFamily="34" charset="0"/>
                <a:cs typeface="Calibri" pitchFamily="34" charset="0"/>
              </a:defRPr>
            </a:lvl1pPr>
          </a:lstStyle>
          <a:p>
            <a:pPr lvl="0"/>
            <a:r>
              <a:rPr lang="en-US" dirty="0"/>
              <a:t>2.</a:t>
            </a:r>
            <a:endParaRPr lang="ru-RU" dirty="0"/>
          </a:p>
        </p:txBody>
      </p:sp>
      <p:sp>
        <p:nvSpPr>
          <p:cNvPr id="21" name="Текст 8"/>
          <p:cNvSpPr>
            <a:spLocks noGrp="1"/>
          </p:cNvSpPr>
          <p:nvPr>
            <p:ph type="body" sz="quarter" idx="24" hasCustomPrompt="1"/>
          </p:nvPr>
        </p:nvSpPr>
        <p:spPr>
          <a:xfrm>
            <a:off x="4537601" y="3030540"/>
            <a:ext cx="373062" cy="338666"/>
          </a:xfrm>
          <a:prstGeom prst="rect">
            <a:avLst/>
          </a:prstGeom>
        </p:spPr>
        <p:txBody>
          <a:bodyPr/>
          <a:lstStyle>
            <a:lvl1pPr>
              <a:buFont typeface="+mj-lt"/>
              <a:buNone/>
              <a:defRPr sz="1400" baseline="0">
                <a:latin typeface="Calibri" pitchFamily="34" charset="0"/>
                <a:cs typeface="Calibri" pitchFamily="34" charset="0"/>
              </a:defRPr>
            </a:lvl1pPr>
          </a:lstStyle>
          <a:p>
            <a:pPr lvl="0"/>
            <a:r>
              <a:rPr lang="en-US" dirty="0"/>
              <a:t>3.</a:t>
            </a:r>
            <a:endParaRPr lang="ru-RU" dirty="0"/>
          </a:p>
        </p:txBody>
      </p:sp>
      <p:sp>
        <p:nvSpPr>
          <p:cNvPr id="23" name="Текст 8"/>
          <p:cNvSpPr>
            <a:spLocks noGrp="1"/>
          </p:cNvSpPr>
          <p:nvPr>
            <p:ph type="body" sz="quarter" idx="25" hasCustomPrompt="1"/>
          </p:nvPr>
        </p:nvSpPr>
        <p:spPr>
          <a:xfrm>
            <a:off x="4512202" y="5629808"/>
            <a:ext cx="373062" cy="338666"/>
          </a:xfrm>
          <a:prstGeom prst="rect">
            <a:avLst/>
          </a:prstGeom>
        </p:spPr>
        <p:txBody>
          <a:bodyPr/>
          <a:lstStyle>
            <a:lvl1pPr>
              <a:buFont typeface="+mj-lt"/>
              <a:buNone/>
              <a:defRPr sz="1400" baseline="0">
                <a:latin typeface="Calibri" pitchFamily="34" charset="0"/>
                <a:cs typeface="Calibri" pitchFamily="34" charset="0"/>
              </a:defRPr>
            </a:lvl1pPr>
          </a:lstStyle>
          <a:p>
            <a:pPr lvl="0"/>
            <a:r>
              <a:rPr lang="en-US" dirty="0"/>
              <a:t>4.</a:t>
            </a:r>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Заголовок, график и текст">
    <p:spTree>
      <p:nvGrpSpPr>
        <p:cNvPr id="1" name=""/>
        <p:cNvGrpSpPr/>
        <p:nvPr/>
      </p:nvGrpSpPr>
      <p:grpSpPr>
        <a:xfrm>
          <a:off x="0" y="0"/>
          <a:ext cx="0" cy="0"/>
          <a:chOff x="0" y="0"/>
          <a:chExt cx="0" cy="0"/>
        </a:xfrm>
      </p:grpSpPr>
      <p:sp>
        <p:nvSpPr>
          <p:cNvPr id="24" name="Диаграмма 23"/>
          <p:cNvSpPr>
            <a:spLocks noGrp="1"/>
          </p:cNvSpPr>
          <p:nvPr>
            <p:ph type="chart" sz="quarter" idx="11"/>
          </p:nvPr>
        </p:nvSpPr>
        <p:spPr>
          <a:xfrm>
            <a:off x="600603" y="1981200"/>
            <a:ext cx="5241395" cy="3505200"/>
          </a:xfrm>
          <a:prstGeom prst="rect">
            <a:avLst/>
          </a:prstGeom>
          <a:ln>
            <a:noFill/>
          </a:ln>
        </p:spPr>
        <p:txBody>
          <a:bodyPr/>
          <a:lstStyle>
            <a:lvl1pPr>
              <a:buNone/>
              <a:defRPr sz="1800">
                <a:solidFill>
                  <a:srgbClr val="0F45C7"/>
                </a:solidFill>
                <a:latin typeface="Calibri" pitchFamily="34" charset="0"/>
                <a:cs typeface="Calibri" pitchFamily="34" charset="0"/>
              </a:defRPr>
            </a:lvl1pPr>
          </a:lstStyle>
          <a:p>
            <a:endParaRPr lang="ru-RU" dirty="0"/>
          </a:p>
        </p:txBody>
      </p:sp>
      <p:sp>
        <p:nvSpPr>
          <p:cNvPr id="19" name="Заголовок 7"/>
          <p:cNvSpPr>
            <a:spLocks noGrp="1"/>
          </p:cNvSpPr>
          <p:nvPr>
            <p:ph type="title" hasCustomPrompt="1"/>
          </p:nvPr>
        </p:nvSpPr>
        <p:spPr>
          <a:xfrm>
            <a:off x="465669" y="587898"/>
            <a:ext cx="3175001" cy="1206715"/>
          </a:xfrm>
          <a:prstGeom prst="rect">
            <a:avLst/>
          </a:prstGeom>
        </p:spPr>
        <p:txBody>
          <a:bodyPr/>
          <a:lstStyle>
            <a:lvl1pPr algn="l">
              <a:defRPr sz="4000" b="1" spc="100" baseline="0">
                <a:solidFill>
                  <a:srgbClr val="0F45C7"/>
                </a:solidFill>
                <a:latin typeface="Calibri" pitchFamily="34" charset="0"/>
                <a:ea typeface="Roboto" pitchFamily="2" charset="0"/>
                <a:cs typeface="Calibri" pitchFamily="34" charset="0"/>
              </a:defRPr>
            </a:lvl1pPr>
          </a:lstStyle>
          <a:p>
            <a:r>
              <a:rPr lang="ru-RU" dirty="0"/>
              <a:t>ЗАГОЛОВОК</a:t>
            </a:r>
            <a:br>
              <a:rPr lang="ru-RU" dirty="0"/>
            </a:br>
            <a:r>
              <a:rPr lang="ru-RU" dirty="0"/>
              <a:t>СЛАЙДА</a:t>
            </a:r>
          </a:p>
        </p:txBody>
      </p:sp>
      <p:sp>
        <p:nvSpPr>
          <p:cNvPr id="20" name="Текст 15"/>
          <p:cNvSpPr>
            <a:spLocks noGrp="1"/>
          </p:cNvSpPr>
          <p:nvPr>
            <p:ph type="body" sz="quarter" idx="12" hasCustomPrompt="1"/>
          </p:nvPr>
        </p:nvSpPr>
        <p:spPr>
          <a:xfrm>
            <a:off x="6079597" y="2006599"/>
            <a:ext cx="5689069" cy="3479801"/>
          </a:xfrm>
          <a:prstGeom prst="rect">
            <a:avLst/>
          </a:prstGeom>
        </p:spPr>
        <p:txBody>
          <a:bodyPr/>
          <a:lstStyle>
            <a:lvl1pPr>
              <a:spcBef>
                <a:spcPts val="0"/>
              </a:spcBef>
              <a:buNone/>
              <a:defRPr sz="1800" baseline="0">
                <a:latin typeface="Calibri" pitchFamily="34" charset="0"/>
                <a:cs typeface="Calibri" pitchFamily="34" charset="0"/>
              </a:defRPr>
            </a:lvl1pPr>
          </a:lstStyle>
          <a:p>
            <a:pPr lvl="0"/>
            <a:r>
              <a:rPr lang="ru-RU" dirty="0"/>
              <a:t>Текст слайда</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Заголовок и график">
    <p:spTree>
      <p:nvGrpSpPr>
        <p:cNvPr id="1" name=""/>
        <p:cNvGrpSpPr/>
        <p:nvPr/>
      </p:nvGrpSpPr>
      <p:grpSpPr>
        <a:xfrm>
          <a:off x="0" y="0"/>
          <a:ext cx="0" cy="0"/>
          <a:chOff x="0" y="0"/>
          <a:chExt cx="0" cy="0"/>
        </a:xfrm>
      </p:grpSpPr>
      <p:sp>
        <p:nvSpPr>
          <p:cNvPr id="24" name="Диаграмма 23"/>
          <p:cNvSpPr>
            <a:spLocks noGrp="1"/>
          </p:cNvSpPr>
          <p:nvPr>
            <p:ph type="chart" sz="quarter" idx="11"/>
          </p:nvPr>
        </p:nvSpPr>
        <p:spPr>
          <a:xfrm>
            <a:off x="440003" y="465666"/>
            <a:ext cx="7738798" cy="5469467"/>
          </a:xfrm>
          <a:prstGeom prst="rect">
            <a:avLst/>
          </a:prstGeom>
          <a:ln>
            <a:noFill/>
          </a:ln>
        </p:spPr>
        <p:txBody>
          <a:bodyPr/>
          <a:lstStyle>
            <a:lvl1pPr>
              <a:buNone/>
              <a:defRPr sz="1800">
                <a:solidFill>
                  <a:srgbClr val="0F45C7"/>
                </a:solidFill>
                <a:latin typeface="Calibri" pitchFamily="34" charset="0"/>
                <a:cs typeface="Calibri" pitchFamily="34" charset="0"/>
              </a:defRPr>
            </a:lvl1pPr>
          </a:lstStyle>
          <a:p>
            <a:endParaRPr lang="ru-RU" dirty="0"/>
          </a:p>
        </p:txBody>
      </p:sp>
      <p:sp>
        <p:nvSpPr>
          <p:cNvPr id="8" name="Текст 15"/>
          <p:cNvSpPr>
            <a:spLocks noGrp="1"/>
          </p:cNvSpPr>
          <p:nvPr>
            <p:ph type="body" sz="quarter" idx="15" hasCustomPrompt="1"/>
          </p:nvPr>
        </p:nvSpPr>
        <p:spPr>
          <a:xfrm>
            <a:off x="8433325" y="491067"/>
            <a:ext cx="3115208" cy="1236133"/>
          </a:xfrm>
          <a:prstGeom prst="rect">
            <a:avLst/>
          </a:prstGeom>
        </p:spPr>
        <p:txBody>
          <a:bodyPr/>
          <a:lstStyle>
            <a:lvl1pPr>
              <a:spcBef>
                <a:spcPts val="0"/>
              </a:spcBef>
              <a:buNone/>
              <a:defRPr sz="1600" baseline="0">
                <a:latin typeface="Calibri" pitchFamily="34" charset="0"/>
                <a:cs typeface="Calibri" pitchFamily="34" charset="0"/>
              </a:defRPr>
            </a:lvl1pPr>
          </a:lstStyle>
          <a:p>
            <a:pPr lvl="0"/>
            <a:r>
              <a:rPr lang="ru-RU" dirty="0"/>
              <a:t>Название диаграммы</a:t>
            </a:r>
          </a:p>
          <a:p>
            <a:pPr lvl="0"/>
            <a:r>
              <a:rPr lang="ru-RU" dirty="0"/>
              <a:t>Описание</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6.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Рисунок 5" descr="Изображение выглядит как лодка, большой, стол, сидит&#10;&#10;Автоматически созданное описание">
            <a:extLst>
              <a:ext uri="{FF2B5EF4-FFF2-40B4-BE49-F238E27FC236}">
                <a16:creationId xmlns:a16="http://schemas.microsoft.com/office/drawing/2014/main" id="{E0A65AA9-4997-344E-8F7D-EA0313D533B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Рисунок 6">
            <a:extLst>
              <a:ext uri="{FF2B5EF4-FFF2-40B4-BE49-F238E27FC236}">
                <a16:creationId xmlns:a16="http://schemas.microsoft.com/office/drawing/2014/main" id="{33038CDE-5894-4B40-A384-C89CE9C3282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7203677" y="509952"/>
            <a:ext cx="2304256" cy="59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Прямоугольник 9">
            <a:extLst>
              <a:ext uri="{FF2B5EF4-FFF2-40B4-BE49-F238E27FC236}">
                <a16:creationId xmlns:a16="http://schemas.microsoft.com/office/drawing/2014/main" id="{77A33C58-DB8D-CF4D-99B2-60C06E80D8F4}"/>
              </a:ext>
            </a:extLst>
          </p:cNvPr>
          <p:cNvSpPr/>
          <p:nvPr userDrawn="1"/>
        </p:nvSpPr>
        <p:spPr>
          <a:xfrm>
            <a:off x="10965388" y="6222330"/>
            <a:ext cx="720710" cy="307777"/>
          </a:xfrm>
          <a:prstGeom prst="rect">
            <a:avLst/>
          </a:prstGeom>
        </p:spPr>
        <p:txBody>
          <a:bodyPr wrap="none" anchor="ctr">
            <a:spAutoFit/>
          </a:bodyPr>
          <a:lstStyle/>
          <a:p>
            <a:pPr>
              <a:defRPr/>
            </a:pPr>
            <a:r>
              <a:rPr lang="en-US" sz="1400" dirty="0">
                <a:solidFill>
                  <a:srgbClr val="0F45C7"/>
                </a:solidFill>
              </a:rPr>
              <a:t>miet.ru</a:t>
            </a:r>
            <a:endParaRPr lang="ru-RU" sz="1400" spc="90" dirty="0">
              <a:solidFill>
                <a:srgbClr val="0F45C7"/>
              </a:solidFill>
            </a:endParaRPr>
          </a:p>
        </p:txBody>
      </p:sp>
      <p:pic>
        <p:nvPicPr>
          <p:cNvPr id="11" name="Picture 2" descr="C:\Users\Media\Desktop\Logo_-основной для белого фона.png"/>
          <p:cNvPicPr>
            <a:picLocks noChangeAspect="1" noChangeArrowheads="1"/>
          </p:cNvPicPr>
          <p:nvPr userDrawn="1"/>
        </p:nvPicPr>
        <p:blipFill>
          <a:blip r:embed="rId5"/>
          <a:srcRect/>
          <a:stretch>
            <a:fillRect/>
          </a:stretch>
        </p:blipFill>
        <p:spPr bwMode="auto">
          <a:xfrm>
            <a:off x="9847369" y="624802"/>
            <a:ext cx="1820804" cy="358980"/>
          </a:xfrm>
          <a:prstGeom prst="rect">
            <a:avLst/>
          </a:prstGeom>
          <a:noFill/>
        </p:spPr>
      </p:pic>
    </p:spTree>
  </p:cSld>
  <p:clrMap bg1="lt1" tx1="dk1" bg2="lt2" tx2="dk2" accent1="accent1" accent2="accent2" accent3="accent3" accent4="accent4" accent5="accent5" accent6="accent6" hlink="hlink" folHlink="folHlink"/>
  <p:sldLayoutIdLst>
    <p:sldLayoutId id="2147483670"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Группа 1"/>
          <p:cNvGrpSpPr/>
          <p:nvPr userDrawn="1"/>
        </p:nvGrpSpPr>
        <p:grpSpPr>
          <a:xfrm>
            <a:off x="409109" y="6163733"/>
            <a:ext cx="11531456" cy="484506"/>
            <a:chOff x="739308" y="6237312"/>
            <a:chExt cx="10787787" cy="453260"/>
          </a:xfrm>
        </p:grpSpPr>
        <p:cxnSp>
          <p:nvCxnSpPr>
            <p:cNvPr id="3" name="Прямая соединительная линия 2"/>
            <p:cNvCxnSpPr/>
            <p:nvPr/>
          </p:nvCxnSpPr>
          <p:spPr>
            <a:xfrm>
              <a:off x="2612038" y="6472706"/>
              <a:ext cx="8113112" cy="0"/>
            </a:xfrm>
            <a:prstGeom prst="line">
              <a:avLst/>
            </a:prstGeom>
            <a:ln>
              <a:solidFill>
                <a:srgbClr val="1B25F1"/>
              </a:solidFill>
            </a:ln>
          </p:spPr>
          <p:style>
            <a:lnRef idx="1">
              <a:schemeClr val="accent1"/>
            </a:lnRef>
            <a:fillRef idx="0">
              <a:schemeClr val="accent1"/>
            </a:fillRef>
            <a:effectRef idx="0">
              <a:schemeClr val="accent1"/>
            </a:effectRef>
            <a:fontRef idx="minor">
              <a:schemeClr val="tx1"/>
            </a:fontRef>
          </p:style>
        </p:cxnSp>
        <p:sp>
          <p:nvSpPr>
            <p:cNvPr id="4" name="Прямоугольник 3">
              <a:extLst>
                <a:ext uri="{FF2B5EF4-FFF2-40B4-BE49-F238E27FC236}">
                  <a16:creationId xmlns:a16="http://schemas.microsoft.com/office/drawing/2014/main" id="{90BAE046-4232-450C-AF90-7C43027F62F7}"/>
                </a:ext>
              </a:extLst>
            </p:cNvPr>
            <p:cNvSpPr/>
            <p:nvPr/>
          </p:nvSpPr>
          <p:spPr>
            <a:xfrm>
              <a:off x="10749735" y="6337227"/>
              <a:ext cx="777360" cy="247674"/>
            </a:xfrm>
            <a:prstGeom prst="rect">
              <a:avLst/>
            </a:prstGeom>
            <a:noFill/>
          </p:spPr>
          <p:txBody>
            <a:bodyPr wrap="square" lIns="68560" tIns="34285" rIns="68560" bIns="34285">
              <a:spAutoFit/>
            </a:bodyPr>
            <a:lstStyle/>
            <a:p>
              <a:pPr defTabSz="926017" eaLnBrk="0" fontAlgn="base" hangingPunct="0">
                <a:lnSpc>
                  <a:spcPct val="84000"/>
                </a:lnSpc>
                <a:spcBef>
                  <a:spcPts val="338"/>
                </a:spcBef>
                <a:spcAft>
                  <a:spcPct val="0"/>
                </a:spcAft>
                <a:buClr>
                  <a:srgbClr val="FFFFFF"/>
                </a:buClr>
                <a:defRPr/>
              </a:pPr>
              <a:r>
                <a:rPr lang="en-US" sz="1400" b="1" dirty="0">
                  <a:solidFill>
                    <a:srgbClr val="1B25F1"/>
                  </a:solidFill>
                  <a:latin typeface="Calibri" pitchFamily="34" charset="0"/>
                  <a:ea typeface="Segoe UI" pitchFamily="34" charset="0"/>
                  <a:cs typeface="Calibri" pitchFamily="34" charset="0"/>
                </a:rPr>
                <a:t>miet.ru</a:t>
              </a:r>
              <a:endParaRPr lang="ru-RU" sz="1400" b="1" dirty="0">
                <a:solidFill>
                  <a:srgbClr val="1B25F1"/>
                </a:solidFill>
                <a:latin typeface="Calibri" pitchFamily="34" charset="0"/>
                <a:ea typeface="Segoe UI" pitchFamily="34" charset="0"/>
                <a:cs typeface="Calibri" pitchFamily="34" charset="0"/>
              </a:endParaRPr>
            </a:p>
          </p:txBody>
        </p:sp>
        <p:pic>
          <p:nvPicPr>
            <p:cNvPr id="5" name="Picture 2" descr="C:\Users\Media\Desktop\miet_logotype.png"/>
            <p:cNvPicPr>
              <a:picLocks noChangeAspect="1" noChangeArrowheads="1"/>
            </p:cNvPicPr>
            <p:nvPr/>
          </p:nvPicPr>
          <p:blipFill>
            <a:blip r:embed="rId12" cstate="print"/>
            <a:srcRect/>
            <a:stretch>
              <a:fillRect/>
            </a:stretch>
          </p:blipFill>
          <p:spPr bwMode="auto">
            <a:xfrm>
              <a:off x="739308" y="6237312"/>
              <a:ext cx="1751464" cy="453260"/>
            </a:xfrm>
            <a:prstGeom prst="rect">
              <a:avLst/>
            </a:prstGeom>
            <a:noFill/>
          </p:spPr>
        </p:pic>
      </p:grpSp>
      <p:pic>
        <p:nvPicPr>
          <p:cNvPr id="1026" name="Picture 2" descr="C:\Users\Media\Desktop\соц сети МИЭТ 2022 осень-68.png"/>
          <p:cNvPicPr>
            <a:picLocks noChangeAspect="1" noChangeArrowheads="1"/>
          </p:cNvPicPr>
          <p:nvPr userDrawn="1"/>
        </p:nvPicPr>
        <p:blipFill>
          <a:blip r:embed="rId13"/>
          <a:srcRect/>
          <a:stretch>
            <a:fillRect/>
          </a:stretch>
        </p:blipFill>
        <p:spPr bwMode="auto">
          <a:xfrm>
            <a:off x="-340783" y="5007113"/>
            <a:ext cx="1500716" cy="1135983"/>
          </a:xfrm>
          <a:prstGeom prst="rect">
            <a:avLst/>
          </a:prstGeom>
          <a:noFill/>
        </p:spPr>
      </p:pic>
      <p:pic>
        <p:nvPicPr>
          <p:cNvPr id="1027" name="Picture 3" descr="C:\Users\Media\Desktop\соц сети МИЭТ 2022 осень-67.png"/>
          <p:cNvPicPr>
            <a:picLocks noChangeAspect="1" noChangeArrowheads="1"/>
          </p:cNvPicPr>
          <p:nvPr userDrawn="1"/>
        </p:nvPicPr>
        <p:blipFill>
          <a:blip r:embed="rId14"/>
          <a:srcRect/>
          <a:stretch>
            <a:fillRect/>
          </a:stretch>
        </p:blipFill>
        <p:spPr bwMode="auto">
          <a:xfrm>
            <a:off x="10429299" y="186797"/>
            <a:ext cx="1944205" cy="803804"/>
          </a:xfrm>
          <a:prstGeom prst="rect">
            <a:avLst/>
          </a:prstGeom>
          <a:noFill/>
        </p:spPr>
      </p:pic>
    </p:spTree>
  </p:cSld>
  <p:clrMap bg1="lt1" tx1="dk1" bg2="lt2" tx2="dk2" accent1="accent1" accent2="accent2" accent3="accent3" accent4="accent4" accent5="accent5" accent6="accent6" hlink="hlink" folHlink="folHlink"/>
  <p:sldLayoutIdLst>
    <p:sldLayoutId id="2147483659" r:id="rId1"/>
    <p:sldLayoutId id="2147483666" r:id="rId2"/>
    <p:sldLayoutId id="2147483657" r:id="rId3"/>
    <p:sldLayoutId id="2147483658" r:id="rId4"/>
    <p:sldLayoutId id="2147483660" r:id="rId5"/>
    <p:sldLayoutId id="2147483661" r:id="rId6"/>
    <p:sldLayoutId id="2147483662" r:id="rId7"/>
    <p:sldLayoutId id="2147483663" r:id="rId8"/>
    <p:sldLayoutId id="2147483664" r:id="rId9"/>
    <p:sldLayoutId id="2147483665" r:id="rId10"/>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4.xml"/><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0.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 Id="rId4" Type="http://schemas.microsoft.com/office/2018/10/relationships/comments" Target="../comments/modernComment_112_D65493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0"/>
          </p:nvPr>
        </p:nvSpPr>
        <p:spPr/>
        <p:txBody>
          <a:bodyPr/>
          <a:lstStyle/>
          <a:p>
            <a:r>
              <a:rPr lang="ru-RU" sz="3600" b="0" i="0" dirty="0">
                <a:effectLst/>
                <a:latin typeface="+mj-lt"/>
              </a:rPr>
              <a:t>Коммутационная схема управления</a:t>
            </a:r>
            <a:endParaRPr lang="ru-RU" sz="3600" dirty="0">
              <a:latin typeface="+mj-lt"/>
            </a:endParaRPr>
          </a:p>
        </p:txBody>
      </p:sp>
      <p:sp>
        <p:nvSpPr>
          <p:cNvPr id="3" name="Текст 2"/>
          <p:cNvSpPr>
            <a:spLocks noGrp="1"/>
          </p:cNvSpPr>
          <p:nvPr>
            <p:ph type="body" sz="quarter" idx="12"/>
          </p:nvPr>
        </p:nvSpPr>
        <p:spPr>
          <a:xfrm>
            <a:off x="461527" y="4075978"/>
            <a:ext cx="3775603" cy="1569041"/>
          </a:xfrm>
        </p:spPr>
        <p:txBody>
          <a:bodyPr/>
          <a:lstStyle/>
          <a:p>
            <a:pPr algn="l">
              <a:spcBef>
                <a:spcPts val="600"/>
              </a:spcBef>
            </a:pPr>
            <a:r>
              <a:rPr lang="ru-RU" sz="1200" b="0" i="0" dirty="0">
                <a:effectLst/>
                <a:latin typeface="Arial" panose="020B0604020202020204" pitchFamily="34" charset="0"/>
              </a:rPr>
              <a:t>Подготовили студенты ИВТ-31,</a:t>
            </a:r>
          </a:p>
          <a:p>
            <a:pPr algn="l">
              <a:spcBef>
                <a:spcPts val="600"/>
              </a:spcBef>
            </a:pPr>
            <a:r>
              <a:rPr lang="ru-RU" sz="1200" dirty="0">
                <a:latin typeface="Arial" panose="020B0604020202020204" pitchFamily="34" charset="0"/>
              </a:rPr>
              <a:t>Астафьев Дмитрий Викторович</a:t>
            </a:r>
          </a:p>
          <a:p>
            <a:pPr algn="l">
              <a:spcBef>
                <a:spcPts val="600"/>
              </a:spcBef>
            </a:pPr>
            <a:r>
              <a:rPr lang="ru-RU" sz="1200" dirty="0">
                <a:latin typeface="Arial" panose="020B0604020202020204" pitchFamily="34" charset="0"/>
              </a:rPr>
              <a:t>Митрофанов Сергей Павлович</a:t>
            </a:r>
          </a:p>
          <a:p>
            <a:pPr algn="l">
              <a:spcBef>
                <a:spcPts val="600"/>
              </a:spcBef>
            </a:pPr>
            <a:r>
              <a:rPr lang="ru-RU" sz="1200" dirty="0">
                <a:latin typeface="Arial" panose="020B0604020202020204" pitchFamily="34" charset="0"/>
              </a:rPr>
              <a:t>Панин Данила Александрович</a:t>
            </a:r>
          </a:p>
          <a:p>
            <a:pPr algn="l">
              <a:spcBef>
                <a:spcPts val="600"/>
              </a:spcBef>
            </a:pPr>
            <a:r>
              <a:rPr lang="ru-RU" sz="1200" dirty="0" err="1">
                <a:latin typeface="Arial" panose="020B0604020202020204" pitchFamily="34" charset="0"/>
              </a:rPr>
              <a:t>Неволина</a:t>
            </a:r>
            <a:r>
              <a:rPr lang="ru-RU" sz="1200" dirty="0">
                <a:latin typeface="Arial" panose="020B0604020202020204" pitchFamily="34" charset="0"/>
              </a:rPr>
              <a:t> Злата Романова</a:t>
            </a:r>
          </a:p>
          <a:p>
            <a:pPr algn="l">
              <a:spcBef>
                <a:spcPts val="600"/>
              </a:spcBef>
            </a:pPr>
            <a:r>
              <a:rPr lang="ru-RU" sz="1200" dirty="0" err="1">
                <a:latin typeface="Arial" panose="020B0604020202020204" pitchFamily="34" charset="0"/>
              </a:rPr>
              <a:t>Вишневецкая</a:t>
            </a:r>
            <a:r>
              <a:rPr lang="ru-RU" sz="1200" dirty="0">
                <a:latin typeface="Arial" panose="020B0604020202020204" pitchFamily="34" charset="0"/>
              </a:rPr>
              <a:t> Роза Константиновна</a:t>
            </a:r>
          </a:p>
        </p:txBody>
      </p:sp>
      <p:sp>
        <p:nvSpPr>
          <p:cNvPr id="4" name="TextBox 3">
            <a:extLst>
              <a:ext uri="{FF2B5EF4-FFF2-40B4-BE49-F238E27FC236}">
                <a16:creationId xmlns:a16="http://schemas.microsoft.com/office/drawing/2014/main" id="{FA6737A8-7531-9623-09FE-C1BFD13AC965}"/>
              </a:ext>
            </a:extLst>
          </p:cNvPr>
          <p:cNvSpPr txBox="1"/>
          <p:nvPr/>
        </p:nvSpPr>
        <p:spPr>
          <a:xfrm>
            <a:off x="5164014" y="6384113"/>
            <a:ext cx="1863972" cy="307777"/>
          </a:xfrm>
          <a:prstGeom prst="rect">
            <a:avLst/>
          </a:prstGeom>
          <a:noFill/>
        </p:spPr>
        <p:txBody>
          <a:bodyPr wrap="none" rtlCol="0">
            <a:spAutoFit/>
          </a:bodyPr>
          <a:lstStyle/>
          <a:p>
            <a:r>
              <a:rPr lang="ru-RU" sz="1400" dirty="0">
                <a:solidFill>
                  <a:schemeClr val="bg1"/>
                </a:solidFill>
                <a:latin typeface="Arial" panose="020B0604020202020204" pitchFamily="34" charset="0"/>
                <a:cs typeface="Arial" panose="020B0604020202020204" pitchFamily="34" charset="0"/>
              </a:rPr>
              <a:t>г. Зеленоград 2024 г</a:t>
            </a:r>
          </a:p>
        </p:txBody>
      </p:sp>
    </p:spTree>
  </p:cSld>
  <p:clrMapOvr>
    <a:masterClrMapping/>
  </p:clrMapOvr>
  <p:extLst mod="1">
    <p:ext uri="{6950BFC3-D8DA-4A85-94F7-54DA5524770B}">
      <p188:commentRel xmlns:p188="http://schemas.microsoft.com/office/powerpoint/2018/8/main" xmlns=""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4FEC2F-2BFE-CA99-7550-5E4C80B22804}"/>
              </a:ext>
            </a:extLst>
          </p:cNvPr>
          <p:cNvSpPr>
            <a:spLocks noGrp="1"/>
          </p:cNvSpPr>
          <p:nvPr>
            <p:ph type="title"/>
          </p:nvPr>
        </p:nvSpPr>
        <p:spPr>
          <a:xfrm>
            <a:off x="457196" y="587901"/>
            <a:ext cx="8966721" cy="1206715"/>
          </a:xfrm>
        </p:spPr>
        <p:txBody>
          <a:bodyPr/>
          <a:lstStyle/>
          <a:p>
            <a:r>
              <a:rPr lang="ru-RU" dirty="0"/>
              <a:t>Коммутационная схема управления</a:t>
            </a:r>
          </a:p>
        </p:txBody>
      </p:sp>
      <p:sp>
        <p:nvSpPr>
          <p:cNvPr id="3" name="TextBox 2">
            <a:extLst>
              <a:ext uri="{FF2B5EF4-FFF2-40B4-BE49-F238E27FC236}">
                <a16:creationId xmlns:a16="http://schemas.microsoft.com/office/drawing/2014/main" id="{49BE1353-5C36-A0E4-1D81-44D1FB363EA0}"/>
              </a:ext>
            </a:extLst>
          </p:cNvPr>
          <p:cNvSpPr txBox="1"/>
          <p:nvPr/>
        </p:nvSpPr>
        <p:spPr>
          <a:xfrm>
            <a:off x="457196" y="1544178"/>
            <a:ext cx="554915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600" dirty="0">
                <a:latin typeface="Calibri"/>
                <a:cs typeface="Calibri"/>
              </a:rPr>
              <a:t>На промышленных предприятиях широко применяется автоматика. Источники питания отличаются хорошей надежностью, однако требуется гарантировано защитить устройства от неожиданного поведения источников. Для этого можно создать вспомогательное устройство, основанное на свойствах транзистора. Коммутационная схема управления, имеющая в своем составе транзистор, может реализовать подобную защиту.</a:t>
            </a:r>
          </a:p>
        </p:txBody>
      </p:sp>
      <p:pic>
        <p:nvPicPr>
          <p:cNvPr id="6" name="Picture 2">
            <a:extLst>
              <a:ext uri="{FF2B5EF4-FFF2-40B4-BE49-F238E27FC236}">
                <a16:creationId xmlns:a16="http://schemas.microsoft.com/office/drawing/2014/main" id="{2BB7D61C-BD7E-458D-8D8B-19CECBC33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6" y="3503004"/>
            <a:ext cx="8105783" cy="2665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a:extLst>
              <a:ext uri="{FF2B5EF4-FFF2-40B4-BE49-F238E27FC236}">
                <a16:creationId xmlns:a16="http://schemas.microsoft.com/office/drawing/2014/main" id="{F924230E-E36F-4E51-B39A-BEC1758F1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2979" y="1339316"/>
            <a:ext cx="3171825" cy="2500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a:extLst>
              <a:ext uri="{FF2B5EF4-FFF2-40B4-BE49-F238E27FC236}">
                <a16:creationId xmlns:a16="http://schemas.microsoft.com/office/drawing/2014/main" id="{B314D5D7-6A29-4ECA-89D1-10E98CA342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2980" y="3987924"/>
            <a:ext cx="3171824" cy="250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9135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197" y="587901"/>
            <a:ext cx="7682951" cy="1206715"/>
          </a:xfrm>
        </p:spPr>
        <p:txBody>
          <a:bodyPr/>
          <a:lstStyle/>
          <a:p>
            <a:r>
              <a:rPr lang="ru-RU" sz="3200" dirty="0">
                <a:latin typeface="+mj-lt"/>
              </a:rPr>
              <a:t>Цели и задачи</a:t>
            </a:r>
          </a:p>
        </p:txBody>
      </p:sp>
      <p:sp>
        <p:nvSpPr>
          <p:cNvPr id="3" name="Текст 2"/>
          <p:cNvSpPr>
            <a:spLocks noGrp="1"/>
          </p:cNvSpPr>
          <p:nvPr>
            <p:ph type="body" sz="quarter" idx="11"/>
          </p:nvPr>
        </p:nvSpPr>
        <p:spPr>
          <a:xfrm>
            <a:off x="457197" y="1820017"/>
            <a:ext cx="11260141" cy="3817937"/>
          </a:xfrm>
        </p:spPr>
        <p:txBody>
          <a:bodyPr lIns="91440" tIns="45720" rIns="91440" bIns="45720" anchor="t"/>
          <a:lstStyle/>
          <a:p>
            <a:pPr indent="0">
              <a:spcBef>
                <a:spcPts val="600"/>
              </a:spcBef>
              <a:buNone/>
            </a:pPr>
            <a:r>
              <a:rPr lang="ru-RU" b="1" u="sng" dirty="0"/>
              <a:t>Цель:</a:t>
            </a:r>
          </a:p>
          <a:p>
            <a:pPr indent="0">
              <a:spcBef>
                <a:spcPts val="600"/>
              </a:spcBef>
              <a:buNone/>
            </a:pPr>
            <a:endParaRPr lang="ru-RU" b="1" i="1" dirty="0">
              <a:solidFill>
                <a:srgbClr val="000000"/>
              </a:solidFill>
              <a:latin typeface="Calibri"/>
              <a:cs typeface="Calibri"/>
            </a:endParaRPr>
          </a:p>
          <a:p>
            <a:pPr indent="0">
              <a:spcBef>
                <a:spcPts val="600"/>
              </a:spcBef>
              <a:buNone/>
            </a:pPr>
            <a:r>
              <a:rPr lang="ru-RU" i="1" dirty="0">
                <a:solidFill>
                  <a:srgbClr val="000000"/>
                </a:solidFill>
                <a:latin typeface="Calibri"/>
                <a:cs typeface="Calibri"/>
              </a:rPr>
              <a:t>Цель проекта – разработка коммутационной схемы управления питанием и защиты промышленного оборудования, создание ее прототипа и успешное прохождение заводских испытаний до 20.12.2024.</a:t>
            </a:r>
            <a:endParaRPr lang="ru-RU" dirty="0">
              <a:solidFill>
                <a:srgbClr val="000000"/>
              </a:solidFill>
            </a:endParaRPr>
          </a:p>
        </p:txBody>
      </p:sp>
      <p:sp>
        <p:nvSpPr>
          <p:cNvPr id="7" name="Текст 6">
            <a:extLst>
              <a:ext uri="{FF2B5EF4-FFF2-40B4-BE49-F238E27FC236}">
                <a16:creationId xmlns:a16="http://schemas.microsoft.com/office/drawing/2014/main" id="{CCFCCB08-C4DA-42CB-9B5E-F9EA367A27FA}"/>
              </a:ext>
            </a:extLst>
          </p:cNvPr>
          <p:cNvSpPr>
            <a:spLocks noGrp="1"/>
          </p:cNvSpPr>
          <p:nvPr>
            <p:ph type="body" sz="quarter" idx="12"/>
          </p:nvPr>
        </p:nvSpPr>
        <p:spPr/>
        <p:txBody>
          <a:bodyPr/>
          <a:lstStyle/>
          <a:p>
            <a:endParaRPr lang="ru-RU" dirty="0"/>
          </a:p>
        </p:txBody>
      </p:sp>
    </p:spTree>
  </p:cSld>
  <p:clrMapOvr>
    <a:masterClrMapping/>
  </p:clrMapOvr>
  <p:extLst mod="1">
    <p:ext uri="{6950BFC3-D8DA-4A85-94F7-54DA5524770B}">
      <p188:commentRel xmlns:p188="http://schemas.microsoft.com/office/powerpoint/2018/8/main" xmlns=""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F57D29-677B-4AA8-8AA3-2F6B3AC23769}"/>
              </a:ext>
            </a:extLst>
          </p:cNvPr>
          <p:cNvSpPr>
            <a:spLocks noGrp="1"/>
          </p:cNvSpPr>
          <p:nvPr>
            <p:ph type="title"/>
          </p:nvPr>
        </p:nvSpPr>
        <p:spPr/>
        <p:txBody>
          <a:bodyPr/>
          <a:lstStyle/>
          <a:p>
            <a:r>
              <a:rPr lang="ru-RU" dirty="0"/>
              <a:t>ИСР</a:t>
            </a:r>
          </a:p>
        </p:txBody>
      </p:sp>
      <p:sp>
        <p:nvSpPr>
          <p:cNvPr id="3" name="Текст 2">
            <a:extLst>
              <a:ext uri="{FF2B5EF4-FFF2-40B4-BE49-F238E27FC236}">
                <a16:creationId xmlns:a16="http://schemas.microsoft.com/office/drawing/2014/main" id="{FFEFBBD7-E94D-424D-9924-BED6DDCE1DC5}"/>
              </a:ext>
            </a:extLst>
          </p:cNvPr>
          <p:cNvSpPr>
            <a:spLocks noGrp="1"/>
          </p:cNvSpPr>
          <p:nvPr>
            <p:ph type="body" sz="quarter" idx="12"/>
          </p:nvPr>
        </p:nvSpPr>
        <p:spPr/>
        <p:txBody>
          <a:bodyPr/>
          <a:lstStyle/>
          <a:p>
            <a:endParaRPr lang="ru-RU"/>
          </a:p>
        </p:txBody>
      </p:sp>
      <p:pic>
        <p:nvPicPr>
          <p:cNvPr id="4" name="Рисунок 3">
            <a:extLst>
              <a:ext uri="{FF2B5EF4-FFF2-40B4-BE49-F238E27FC236}">
                <a16:creationId xmlns:a16="http://schemas.microsoft.com/office/drawing/2014/main" id="{1081F22F-E433-44F0-A5BD-E2FC32041C1D}"/>
              </a:ext>
            </a:extLst>
          </p:cNvPr>
          <p:cNvPicPr/>
          <p:nvPr/>
        </p:nvPicPr>
        <p:blipFill>
          <a:blip r:embed="rId2"/>
          <a:stretch>
            <a:fillRect/>
          </a:stretch>
        </p:blipFill>
        <p:spPr>
          <a:xfrm>
            <a:off x="764034" y="1231641"/>
            <a:ext cx="10498015" cy="4516016"/>
          </a:xfrm>
          <a:prstGeom prst="rect">
            <a:avLst/>
          </a:prstGeom>
        </p:spPr>
      </p:pic>
    </p:spTree>
    <p:extLst>
      <p:ext uri="{BB962C8B-B14F-4D97-AF65-F5344CB8AC3E}">
        <p14:creationId xmlns:p14="http://schemas.microsoft.com/office/powerpoint/2010/main" val="177059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B827E1-1BAE-4631-96A2-D55332808F25}"/>
              </a:ext>
            </a:extLst>
          </p:cNvPr>
          <p:cNvSpPr>
            <a:spLocks noGrp="1"/>
          </p:cNvSpPr>
          <p:nvPr>
            <p:ph type="title"/>
          </p:nvPr>
        </p:nvSpPr>
        <p:spPr>
          <a:xfrm>
            <a:off x="466197" y="311916"/>
            <a:ext cx="9881121" cy="1206715"/>
          </a:xfrm>
        </p:spPr>
        <p:txBody>
          <a:bodyPr/>
          <a:lstStyle/>
          <a:p>
            <a:r>
              <a:rPr lang="ru-RU" dirty="0"/>
              <a:t>Диаграмма </a:t>
            </a:r>
            <a:r>
              <a:rPr lang="ru-RU" dirty="0" err="1"/>
              <a:t>Ганта</a:t>
            </a:r>
            <a:endParaRPr lang="ru-RU" dirty="0"/>
          </a:p>
        </p:txBody>
      </p:sp>
      <p:sp>
        <p:nvSpPr>
          <p:cNvPr id="3" name="Текст 2">
            <a:extLst>
              <a:ext uri="{FF2B5EF4-FFF2-40B4-BE49-F238E27FC236}">
                <a16:creationId xmlns:a16="http://schemas.microsoft.com/office/drawing/2014/main" id="{489EDF94-7145-4425-A3E2-CC984DCAA3D5}"/>
              </a:ext>
            </a:extLst>
          </p:cNvPr>
          <p:cNvSpPr>
            <a:spLocks noGrp="1"/>
          </p:cNvSpPr>
          <p:nvPr>
            <p:ph type="body" sz="quarter" idx="12"/>
          </p:nvPr>
        </p:nvSpPr>
        <p:spPr/>
        <p:txBody>
          <a:bodyPr/>
          <a:lstStyle/>
          <a:p>
            <a:endParaRPr lang="ru-RU" dirty="0"/>
          </a:p>
        </p:txBody>
      </p:sp>
      <p:pic>
        <p:nvPicPr>
          <p:cNvPr id="4" name="Рисунок 3">
            <a:extLst>
              <a:ext uri="{FF2B5EF4-FFF2-40B4-BE49-F238E27FC236}">
                <a16:creationId xmlns:a16="http://schemas.microsoft.com/office/drawing/2014/main" id="{8CFAF07D-D33B-473E-B3FA-EEA2FC67E481}"/>
              </a:ext>
            </a:extLst>
          </p:cNvPr>
          <p:cNvPicPr>
            <a:picLocks noChangeAspect="1"/>
          </p:cNvPicPr>
          <p:nvPr/>
        </p:nvPicPr>
        <p:blipFill>
          <a:blip r:embed="rId2"/>
          <a:stretch>
            <a:fillRect/>
          </a:stretch>
        </p:blipFill>
        <p:spPr>
          <a:xfrm>
            <a:off x="1208848" y="1026367"/>
            <a:ext cx="3195200" cy="5230239"/>
          </a:xfrm>
          <a:prstGeom prst="rect">
            <a:avLst/>
          </a:prstGeom>
        </p:spPr>
      </p:pic>
      <p:pic>
        <p:nvPicPr>
          <p:cNvPr id="7" name="Рисунок 6">
            <a:extLst>
              <a:ext uri="{FF2B5EF4-FFF2-40B4-BE49-F238E27FC236}">
                <a16:creationId xmlns:a16="http://schemas.microsoft.com/office/drawing/2014/main" id="{800EB734-7D64-4798-A19A-AE859AA074D7}"/>
              </a:ext>
            </a:extLst>
          </p:cNvPr>
          <p:cNvPicPr>
            <a:picLocks noChangeAspect="1"/>
          </p:cNvPicPr>
          <p:nvPr/>
        </p:nvPicPr>
        <p:blipFill>
          <a:blip r:embed="rId3"/>
          <a:stretch>
            <a:fillRect/>
          </a:stretch>
        </p:blipFill>
        <p:spPr>
          <a:xfrm>
            <a:off x="5623782" y="311916"/>
            <a:ext cx="2467380" cy="5983585"/>
          </a:xfrm>
          <a:prstGeom prst="rect">
            <a:avLst/>
          </a:prstGeom>
        </p:spPr>
      </p:pic>
    </p:spTree>
    <p:extLst>
      <p:ext uri="{BB962C8B-B14F-4D97-AF65-F5344CB8AC3E}">
        <p14:creationId xmlns:p14="http://schemas.microsoft.com/office/powerpoint/2010/main" val="3335959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5E14BC-9849-45E3-BB0B-C4042052B175}"/>
              </a:ext>
            </a:extLst>
          </p:cNvPr>
          <p:cNvSpPr>
            <a:spLocks noGrp="1"/>
          </p:cNvSpPr>
          <p:nvPr>
            <p:ph type="title"/>
          </p:nvPr>
        </p:nvSpPr>
        <p:spPr>
          <a:xfrm>
            <a:off x="466197" y="224007"/>
            <a:ext cx="5924942" cy="1206715"/>
          </a:xfrm>
        </p:spPr>
        <p:txBody>
          <a:bodyPr/>
          <a:lstStyle/>
          <a:p>
            <a:r>
              <a:rPr lang="ru-RU" dirty="0"/>
              <a:t>Риски проекта</a:t>
            </a:r>
          </a:p>
        </p:txBody>
      </p:sp>
      <p:sp>
        <p:nvSpPr>
          <p:cNvPr id="3" name="Текст 2">
            <a:extLst>
              <a:ext uri="{FF2B5EF4-FFF2-40B4-BE49-F238E27FC236}">
                <a16:creationId xmlns:a16="http://schemas.microsoft.com/office/drawing/2014/main" id="{3BD9EE64-6319-49E6-BDC0-022EEE6D6208}"/>
              </a:ext>
            </a:extLst>
          </p:cNvPr>
          <p:cNvSpPr>
            <a:spLocks noGrp="1"/>
          </p:cNvSpPr>
          <p:nvPr>
            <p:ph type="body" sz="quarter" idx="12"/>
          </p:nvPr>
        </p:nvSpPr>
        <p:spPr/>
        <p:txBody>
          <a:bodyPr/>
          <a:lstStyle/>
          <a:p>
            <a:endParaRPr lang="ru-RU" dirty="0"/>
          </a:p>
        </p:txBody>
      </p:sp>
      <p:graphicFrame>
        <p:nvGraphicFramePr>
          <p:cNvPr id="4" name="Таблица 3">
            <a:extLst>
              <a:ext uri="{FF2B5EF4-FFF2-40B4-BE49-F238E27FC236}">
                <a16:creationId xmlns:a16="http://schemas.microsoft.com/office/drawing/2014/main" id="{4630EBA4-1553-4C2A-B6AC-C6840151CF84}"/>
              </a:ext>
            </a:extLst>
          </p:cNvPr>
          <p:cNvGraphicFramePr>
            <a:graphicFrameLocks noGrp="1"/>
          </p:cNvGraphicFramePr>
          <p:nvPr>
            <p:extLst>
              <p:ext uri="{D42A27DB-BD31-4B8C-83A1-F6EECF244321}">
                <p14:modId xmlns:p14="http://schemas.microsoft.com/office/powerpoint/2010/main" val="2156339444"/>
              </p:ext>
            </p:extLst>
          </p:nvPr>
        </p:nvGraphicFramePr>
        <p:xfrm>
          <a:off x="2174035" y="957262"/>
          <a:ext cx="8173616" cy="5713787"/>
        </p:xfrm>
        <a:graphic>
          <a:graphicData uri="http://schemas.openxmlformats.org/drawingml/2006/table">
            <a:tbl>
              <a:tblPr firstRow="1" firstCol="1" bandRow="1">
                <a:tableStyleId>{5C22544A-7EE6-4342-B048-85BDC9FD1C3A}</a:tableStyleId>
              </a:tblPr>
              <a:tblGrid>
                <a:gridCol w="1246320">
                  <a:extLst>
                    <a:ext uri="{9D8B030D-6E8A-4147-A177-3AD203B41FA5}">
                      <a16:colId xmlns:a16="http://schemas.microsoft.com/office/drawing/2014/main" val="4141061563"/>
                    </a:ext>
                  </a:extLst>
                </a:gridCol>
                <a:gridCol w="1282386">
                  <a:extLst>
                    <a:ext uri="{9D8B030D-6E8A-4147-A177-3AD203B41FA5}">
                      <a16:colId xmlns:a16="http://schemas.microsoft.com/office/drawing/2014/main" val="3303164176"/>
                    </a:ext>
                  </a:extLst>
                </a:gridCol>
                <a:gridCol w="648407">
                  <a:extLst>
                    <a:ext uri="{9D8B030D-6E8A-4147-A177-3AD203B41FA5}">
                      <a16:colId xmlns:a16="http://schemas.microsoft.com/office/drawing/2014/main" val="4156627383"/>
                    </a:ext>
                  </a:extLst>
                </a:gridCol>
                <a:gridCol w="1022705">
                  <a:extLst>
                    <a:ext uri="{9D8B030D-6E8A-4147-A177-3AD203B41FA5}">
                      <a16:colId xmlns:a16="http://schemas.microsoft.com/office/drawing/2014/main" val="3712972301"/>
                    </a:ext>
                  </a:extLst>
                </a:gridCol>
                <a:gridCol w="568256">
                  <a:extLst>
                    <a:ext uri="{9D8B030D-6E8A-4147-A177-3AD203B41FA5}">
                      <a16:colId xmlns:a16="http://schemas.microsoft.com/office/drawing/2014/main" val="46125183"/>
                    </a:ext>
                  </a:extLst>
                </a:gridCol>
                <a:gridCol w="1022705">
                  <a:extLst>
                    <a:ext uri="{9D8B030D-6E8A-4147-A177-3AD203B41FA5}">
                      <a16:colId xmlns:a16="http://schemas.microsoft.com/office/drawing/2014/main" val="306931414"/>
                    </a:ext>
                  </a:extLst>
                </a:gridCol>
                <a:gridCol w="2382837">
                  <a:extLst>
                    <a:ext uri="{9D8B030D-6E8A-4147-A177-3AD203B41FA5}">
                      <a16:colId xmlns:a16="http://schemas.microsoft.com/office/drawing/2014/main" val="480259948"/>
                    </a:ext>
                  </a:extLst>
                </a:gridCol>
              </a:tblGrid>
              <a:tr h="939160">
                <a:tc>
                  <a:txBody>
                    <a:bodyPr/>
                    <a:lstStyle/>
                    <a:p>
                      <a:pPr>
                        <a:lnSpc>
                          <a:spcPct val="115000"/>
                        </a:lnSpc>
                        <a:spcAft>
                          <a:spcPts val="0"/>
                        </a:spcAft>
                      </a:pPr>
                      <a:r>
                        <a:rPr lang="ru-RU" sz="800">
                          <a:effectLst/>
                        </a:rPr>
                        <a:t>Описание риска (рисковое событие)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Факторы, влияющие на возникновение рискового события</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Вероятность</a:t>
                      </a:r>
                      <a:endParaRPr lang="ru-RU" sz="900">
                        <a:effectLst/>
                      </a:endParaRPr>
                    </a:p>
                    <a:p>
                      <a:pPr>
                        <a:lnSpc>
                          <a:spcPct val="115000"/>
                        </a:lnSpc>
                        <a:spcAft>
                          <a:spcPts val="0"/>
                        </a:spcAft>
                      </a:pPr>
                      <a:r>
                        <a:rPr lang="ru-RU" sz="800">
                          <a:effectLst/>
                        </a:rPr>
                        <a:t>(1-10 баллов; 10- наиболее вероятно)</a:t>
                      </a:r>
                      <a:endParaRPr lang="ru-RU" sz="900">
                        <a:effectLst/>
                      </a:endParaRPr>
                    </a:p>
                    <a:p>
                      <a:pPr>
                        <a:lnSpc>
                          <a:spcPct val="115000"/>
                        </a:lnSpc>
                        <a:spcAft>
                          <a:spcPts val="0"/>
                        </a:spcAft>
                      </a:pPr>
                      <a:r>
                        <a:rPr lang="ru-RU" sz="800">
                          <a:effectLst/>
                        </a:rPr>
                        <a:t>(</a:t>
                      </a:r>
                      <a:r>
                        <a:rPr lang="en-US" sz="800">
                          <a:effectLst/>
                        </a:rPr>
                        <a:t>a</a:t>
                      </a:r>
                      <a:r>
                        <a:rPr lang="ru-RU" sz="800">
                          <a:effectLst/>
                        </a:rPr>
                        <a:t>)</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Величина риска</a:t>
                      </a:r>
                      <a:endParaRPr lang="ru-RU" sz="900">
                        <a:effectLst/>
                      </a:endParaRPr>
                    </a:p>
                    <a:p>
                      <a:pPr>
                        <a:lnSpc>
                          <a:spcPct val="115000"/>
                        </a:lnSpc>
                        <a:spcAft>
                          <a:spcPts val="0"/>
                        </a:spcAft>
                      </a:pPr>
                      <a:r>
                        <a:rPr lang="ru-RU" sz="800">
                          <a:effectLst/>
                        </a:rPr>
                        <a:t>(степень влияния, вес)</a:t>
                      </a:r>
                      <a:endParaRPr lang="ru-RU" sz="900">
                        <a:effectLst/>
                      </a:endParaRPr>
                    </a:p>
                    <a:p>
                      <a:pPr>
                        <a:lnSpc>
                          <a:spcPct val="115000"/>
                        </a:lnSpc>
                        <a:spcAft>
                          <a:spcPts val="0"/>
                        </a:spcAft>
                      </a:pPr>
                      <a:r>
                        <a:rPr lang="ru-RU" sz="800">
                          <a:effectLst/>
                        </a:rPr>
                        <a:t>(в долях единицы, суммарно 100% (единица))</a:t>
                      </a:r>
                      <a:endParaRPr lang="ru-RU" sz="900">
                        <a:effectLst/>
                      </a:endParaRPr>
                    </a:p>
                    <a:p>
                      <a:pPr>
                        <a:lnSpc>
                          <a:spcPct val="115000"/>
                        </a:lnSpc>
                        <a:spcAft>
                          <a:spcPts val="0"/>
                        </a:spcAft>
                      </a:pPr>
                      <a:r>
                        <a:rPr lang="ru-RU" sz="800">
                          <a:effectLst/>
                        </a:rPr>
                        <a:t>(</a:t>
                      </a:r>
                      <a:r>
                        <a:rPr lang="en-US" sz="800">
                          <a:effectLst/>
                        </a:rPr>
                        <a:t>b</a:t>
                      </a:r>
                      <a:r>
                        <a:rPr lang="ru-RU" sz="800">
                          <a:effectLst/>
                        </a:rPr>
                        <a:t>)</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Ранг риска</a:t>
                      </a:r>
                      <a:endParaRPr lang="ru-RU" sz="900">
                        <a:effectLst/>
                      </a:endParaRPr>
                    </a:p>
                    <a:p>
                      <a:pPr>
                        <a:lnSpc>
                          <a:spcPct val="115000"/>
                        </a:lnSpc>
                        <a:spcAft>
                          <a:spcPts val="0"/>
                        </a:spcAft>
                      </a:pPr>
                      <a:r>
                        <a:rPr lang="en-US" sz="800">
                          <a:effectLst/>
                        </a:rPr>
                        <a:t>(a*b)</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Стратегия реагирования на риск</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Мероприятия по снижению рисков (План действий)</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3766771503"/>
                  </a:ext>
                </a:extLst>
              </a:tr>
              <a:tr h="80457">
                <a:tc gridSpan="7">
                  <a:txBody>
                    <a:bodyPr/>
                    <a:lstStyle/>
                    <a:p>
                      <a:pPr>
                        <a:lnSpc>
                          <a:spcPct val="115000"/>
                        </a:lnSpc>
                        <a:spcAft>
                          <a:spcPts val="0"/>
                        </a:spcAft>
                      </a:pPr>
                      <a:r>
                        <a:rPr lang="ru-RU" sz="800">
                          <a:effectLst/>
                        </a:rPr>
                        <a:t>Организационные риски</a:t>
                      </a:r>
                      <a:endParaRPr lang="ru-RU" sz="900">
                        <a:effectLst/>
                        <a:latin typeface="Times New Roman" panose="02020603050405020304" pitchFamily="18" charset="0"/>
                        <a:ea typeface="Calibri" panose="020F0502020204030204" pitchFamily="34" charset="0"/>
                      </a:endParaRPr>
                    </a:p>
                  </a:txBody>
                  <a:tcPr marL="31026" marR="31026"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870064015"/>
                  </a:ext>
                </a:extLst>
              </a:tr>
              <a:tr h="509809">
                <a:tc>
                  <a:txBody>
                    <a:bodyPr/>
                    <a:lstStyle/>
                    <a:p>
                      <a:pPr>
                        <a:lnSpc>
                          <a:spcPct val="115000"/>
                        </a:lnSpc>
                        <a:spcAft>
                          <a:spcPts val="0"/>
                        </a:spcAft>
                      </a:pPr>
                      <a:r>
                        <a:rPr lang="ru-RU" sz="800">
                          <a:effectLst/>
                        </a:rPr>
                        <a:t>Плохая связь отделов разработки ПО и схемотехники</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Нежелание сотрудников вести отчеты по работам, проблемы в разработке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6</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0,27</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1,62</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Снижение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Введение программной системы отчетности, проведение встреч для консультации</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3057985933"/>
                  </a:ext>
                </a:extLst>
              </a:tr>
              <a:tr h="80457">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1520835464"/>
                  </a:ext>
                </a:extLst>
              </a:tr>
              <a:tr h="80457">
                <a:tc gridSpan="7">
                  <a:txBody>
                    <a:bodyPr/>
                    <a:lstStyle/>
                    <a:p>
                      <a:pPr>
                        <a:lnSpc>
                          <a:spcPct val="115000"/>
                        </a:lnSpc>
                        <a:spcAft>
                          <a:spcPts val="0"/>
                        </a:spcAft>
                      </a:pPr>
                      <a:r>
                        <a:rPr lang="ru-RU" sz="800">
                          <a:effectLst/>
                        </a:rPr>
                        <a:t>Финансовые риски</a:t>
                      </a:r>
                      <a:endParaRPr lang="ru-RU" sz="900">
                        <a:effectLst/>
                        <a:latin typeface="Times New Roman" panose="02020603050405020304" pitchFamily="18" charset="0"/>
                        <a:ea typeface="Calibri" panose="020F0502020204030204" pitchFamily="34" charset="0"/>
                      </a:endParaRPr>
                    </a:p>
                  </a:txBody>
                  <a:tcPr marL="31026" marR="31026"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658324432"/>
                  </a:ext>
                </a:extLst>
              </a:tr>
              <a:tr h="338068">
                <a:tc>
                  <a:txBody>
                    <a:bodyPr/>
                    <a:lstStyle/>
                    <a:p>
                      <a:pPr>
                        <a:lnSpc>
                          <a:spcPct val="115000"/>
                        </a:lnSpc>
                        <a:spcAft>
                          <a:spcPts val="0"/>
                        </a:spcAft>
                      </a:pPr>
                      <a:r>
                        <a:rPr lang="ru-RU" sz="800">
                          <a:effectLst/>
                        </a:rPr>
                        <a:t>Выход за бюджет проекта</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Проблемы в проектировании, отказ оборудования</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4</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0,14</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0,56</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Снижение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Подготовить запасное оборудование, заложить бюджет на перепроектирование</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718416436"/>
                  </a:ext>
                </a:extLst>
              </a:tr>
              <a:tr h="681550">
                <a:tc>
                  <a:txBody>
                    <a:bodyPr/>
                    <a:lstStyle/>
                    <a:p>
                      <a:pPr>
                        <a:lnSpc>
                          <a:spcPct val="115000"/>
                        </a:lnSpc>
                        <a:spcAft>
                          <a:spcPts val="0"/>
                        </a:spcAft>
                      </a:pPr>
                      <a:r>
                        <a:rPr lang="ru-RU" sz="800">
                          <a:effectLst/>
                        </a:rPr>
                        <a:t>Отказ от финансирования со стороны заказчика</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Сроки проекта, результаты проектирования и испытаний, недоверие заказчика</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1</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0,04</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0,04</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Принятие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Отказ от дальнейшего продолжения проекта</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3667048800"/>
                  </a:ext>
                </a:extLst>
              </a:tr>
              <a:tr h="80457">
                <a:tc gridSpan="7">
                  <a:txBody>
                    <a:bodyPr/>
                    <a:lstStyle/>
                    <a:p>
                      <a:pPr>
                        <a:lnSpc>
                          <a:spcPct val="115000"/>
                        </a:lnSpc>
                        <a:spcAft>
                          <a:spcPts val="0"/>
                        </a:spcAft>
                      </a:pPr>
                      <a:r>
                        <a:rPr lang="ru-RU" sz="800">
                          <a:effectLst/>
                        </a:rPr>
                        <a:t>Риски по срокам (или указать любые другие необходимые группы рисков)</a:t>
                      </a:r>
                      <a:endParaRPr lang="ru-RU" sz="900">
                        <a:effectLst/>
                        <a:latin typeface="Times New Roman" panose="02020603050405020304" pitchFamily="18" charset="0"/>
                        <a:ea typeface="Calibri" panose="020F0502020204030204" pitchFamily="34" charset="0"/>
                      </a:endParaRPr>
                    </a:p>
                  </a:txBody>
                  <a:tcPr marL="31026" marR="31026"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95915357"/>
                  </a:ext>
                </a:extLst>
              </a:tr>
              <a:tr h="767420">
                <a:tc>
                  <a:txBody>
                    <a:bodyPr/>
                    <a:lstStyle/>
                    <a:p>
                      <a:pPr>
                        <a:lnSpc>
                          <a:spcPct val="115000"/>
                        </a:lnSpc>
                        <a:spcAft>
                          <a:spcPts val="0"/>
                        </a:spcAft>
                      </a:pPr>
                      <a:r>
                        <a:rPr lang="ru-RU" sz="800">
                          <a:effectLst/>
                        </a:rPr>
                        <a:t>Перенос этапа (и окончания всего проекта)</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Проблемы в проектировании, отказ оборудования, недостаточное финансирование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3</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0,12</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0,36</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Снижение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dirty="0">
                          <a:effectLst/>
                        </a:rPr>
                        <a:t>Подготовить запасное оборудование, заложить бюджет на перепроектирование, точный расчет бюджета проекта</a:t>
                      </a:r>
                      <a:endParaRPr lang="ru-RU" sz="900" dirty="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1921345254"/>
                  </a:ext>
                </a:extLst>
              </a:tr>
              <a:tr h="80457">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 </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1744636733"/>
                  </a:ext>
                </a:extLst>
              </a:tr>
              <a:tr h="80457">
                <a:tc gridSpan="7">
                  <a:txBody>
                    <a:bodyPr/>
                    <a:lstStyle/>
                    <a:p>
                      <a:pPr>
                        <a:lnSpc>
                          <a:spcPct val="115000"/>
                        </a:lnSpc>
                        <a:spcAft>
                          <a:spcPts val="0"/>
                        </a:spcAft>
                      </a:pPr>
                      <a:r>
                        <a:rPr lang="ru-RU" sz="800">
                          <a:effectLst/>
                        </a:rPr>
                        <a:t>Технические риски</a:t>
                      </a:r>
                      <a:endParaRPr lang="ru-RU" sz="900">
                        <a:effectLst/>
                        <a:latin typeface="Times New Roman" panose="02020603050405020304" pitchFamily="18" charset="0"/>
                        <a:ea typeface="Calibri" panose="020F0502020204030204" pitchFamily="34" charset="0"/>
                      </a:endParaRPr>
                    </a:p>
                  </a:txBody>
                  <a:tcPr marL="31026" marR="31026"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793923629"/>
                  </a:ext>
                </a:extLst>
              </a:tr>
              <a:tr h="509809">
                <a:tc>
                  <a:txBody>
                    <a:bodyPr/>
                    <a:lstStyle/>
                    <a:p>
                      <a:pPr>
                        <a:lnSpc>
                          <a:spcPct val="115000"/>
                        </a:lnSpc>
                        <a:spcAft>
                          <a:spcPts val="0"/>
                        </a:spcAft>
                      </a:pPr>
                      <a:r>
                        <a:rPr lang="ru-RU" sz="800">
                          <a:effectLst/>
                        </a:rPr>
                        <a:t>Отказ тестового оборудования</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Ненадежность электрической сети, нарушение техники безопасности</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3</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0,13</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0,39</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Снижение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Применение БИП, проведение учений по правилам ТБ</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1514780488"/>
                  </a:ext>
                </a:extLst>
              </a:tr>
              <a:tr h="338068">
                <a:tc>
                  <a:txBody>
                    <a:bodyPr/>
                    <a:lstStyle/>
                    <a:p>
                      <a:pPr>
                        <a:lnSpc>
                          <a:spcPct val="115000"/>
                        </a:lnSpc>
                        <a:spcAft>
                          <a:spcPts val="0"/>
                        </a:spcAft>
                      </a:pPr>
                      <a:r>
                        <a:rPr lang="ru-RU" sz="800">
                          <a:effectLst/>
                        </a:rPr>
                        <a:t>Несоответствие макета требованиям ТЗ</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Ошибки в проектировании</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5</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0,21</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0,63</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Снижение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Моделирование работы схемы, проверка всех документов по их принятии</a:t>
                      </a:r>
                      <a:endParaRPr lang="ru-RU" sz="90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1418933246"/>
                  </a:ext>
                </a:extLst>
              </a:tr>
              <a:tr h="595679">
                <a:tc>
                  <a:txBody>
                    <a:bodyPr/>
                    <a:lstStyle/>
                    <a:p>
                      <a:pPr>
                        <a:lnSpc>
                          <a:spcPct val="115000"/>
                        </a:lnSpc>
                        <a:spcAft>
                          <a:spcPts val="0"/>
                        </a:spcAft>
                      </a:pPr>
                      <a:r>
                        <a:rPr lang="ru-RU" sz="800">
                          <a:effectLst/>
                        </a:rPr>
                        <a:t>Выход из строя отдельных компонентов макета</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Неправильная транспортировки и хранение, брак, неправильное монтирование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2</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0,08</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0,24</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a:effectLst/>
                        </a:rPr>
                        <a:t>Снижение</a:t>
                      </a:r>
                      <a:endParaRPr lang="ru-RU" sz="900">
                        <a:effectLst/>
                        <a:latin typeface="Times New Roman" panose="02020603050405020304" pitchFamily="18" charset="0"/>
                        <a:ea typeface="Calibri" panose="020F0502020204030204" pitchFamily="34" charset="0"/>
                      </a:endParaRPr>
                    </a:p>
                  </a:txBody>
                  <a:tcPr marL="31026" marR="31026" marT="0" marB="0"/>
                </a:tc>
                <a:tc>
                  <a:txBody>
                    <a:bodyPr/>
                    <a:lstStyle/>
                    <a:p>
                      <a:pPr>
                        <a:lnSpc>
                          <a:spcPct val="115000"/>
                        </a:lnSpc>
                        <a:spcAft>
                          <a:spcPts val="0"/>
                        </a:spcAft>
                      </a:pPr>
                      <a:r>
                        <a:rPr lang="ru-RU" sz="800" dirty="0">
                          <a:effectLst/>
                        </a:rPr>
                        <a:t>Внимательное обращение с компонентами</a:t>
                      </a:r>
                      <a:endParaRPr lang="ru-RU" sz="900" dirty="0">
                        <a:effectLst/>
                        <a:latin typeface="Times New Roman" panose="02020603050405020304" pitchFamily="18" charset="0"/>
                        <a:ea typeface="Calibri" panose="020F0502020204030204" pitchFamily="34" charset="0"/>
                      </a:endParaRPr>
                    </a:p>
                  </a:txBody>
                  <a:tcPr marL="31026" marR="31026" marT="0" marB="0"/>
                </a:tc>
                <a:extLst>
                  <a:ext uri="{0D108BD9-81ED-4DB2-BD59-A6C34878D82A}">
                    <a16:rowId xmlns:a16="http://schemas.microsoft.com/office/drawing/2014/main" val="1805097897"/>
                  </a:ext>
                </a:extLst>
              </a:tr>
            </a:tbl>
          </a:graphicData>
        </a:graphic>
      </p:graphicFrame>
    </p:spTree>
    <p:extLst>
      <p:ext uri="{BB962C8B-B14F-4D97-AF65-F5344CB8AC3E}">
        <p14:creationId xmlns:p14="http://schemas.microsoft.com/office/powerpoint/2010/main" val="695060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5B23C7-DBCC-4033-9812-CE7F4BA3353B}"/>
              </a:ext>
            </a:extLst>
          </p:cNvPr>
          <p:cNvSpPr>
            <a:spLocks noGrp="1"/>
          </p:cNvSpPr>
          <p:nvPr>
            <p:ph type="title"/>
          </p:nvPr>
        </p:nvSpPr>
        <p:spPr>
          <a:xfrm>
            <a:off x="486833" y="233337"/>
            <a:ext cx="6091249" cy="1206715"/>
          </a:xfrm>
        </p:spPr>
        <p:txBody>
          <a:bodyPr/>
          <a:lstStyle/>
          <a:p>
            <a:r>
              <a:rPr lang="ru-RU" dirty="0"/>
              <a:t>Бюджет проекта</a:t>
            </a:r>
          </a:p>
        </p:txBody>
      </p:sp>
      <p:sp>
        <p:nvSpPr>
          <p:cNvPr id="3" name="Текст 2">
            <a:extLst>
              <a:ext uri="{FF2B5EF4-FFF2-40B4-BE49-F238E27FC236}">
                <a16:creationId xmlns:a16="http://schemas.microsoft.com/office/drawing/2014/main" id="{14EB3E16-D25C-4CF2-88D0-71740DBC3C33}"/>
              </a:ext>
            </a:extLst>
          </p:cNvPr>
          <p:cNvSpPr>
            <a:spLocks noGrp="1"/>
          </p:cNvSpPr>
          <p:nvPr>
            <p:ph type="body" sz="quarter" idx="12"/>
          </p:nvPr>
        </p:nvSpPr>
        <p:spPr/>
        <p:txBody>
          <a:bodyPr/>
          <a:lstStyle/>
          <a:p>
            <a:endParaRPr lang="ru-RU" dirty="0"/>
          </a:p>
        </p:txBody>
      </p:sp>
      <p:graphicFrame>
        <p:nvGraphicFramePr>
          <p:cNvPr id="4" name="Таблица 3">
            <a:extLst>
              <a:ext uri="{FF2B5EF4-FFF2-40B4-BE49-F238E27FC236}">
                <a16:creationId xmlns:a16="http://schemas.microsoft.com/office/drawing/2014/main" id="{655D7203-2694-4B57-9D38-6F05565D69CC}"/>
              </a:ext>
            </a:extLst>
          </p:cNvPr>
          <p:cNvGraphicFramePr>
            <a:graphicFrameLocks noGrp="1"/>
          </p:cNvGraphicFramePr>
          <p:nvPr>
            <p:extLst>
              <p:ext uri="{D42A27DB-BD31-4B8C-83A1-F6EECF244321}">
                <p14:modId xmlns:p14="http://schemas.microsoft.com/office/powerpoint/2010/main" val="3324690459"/>
              </p:ext>
            </p:extLst>
          </p:nvPr>
        </p:nvGraphicFramePr>
        <p:xfrm>
          <a:off x="2076233" y="1060513"/>
          <a:ext cx="8327400" cy="5088951"/>
        </p:xfrm>
        <a:graphic>
          <a:graphicData uri="http://schemas.openxmlformats.org/drawingml/2006/table">
            <a:tbl>
              <a:tblPr firstRow="1" firstCol="1" bandRow="1">
                <a:tableStyleId>{5C22544A-7EE6-4342-B048-85BDC9FD1C3A}</a:tableStyleId>
              </a:tblPr>
              <a:tblGrid>
                <a:gridCol w="1423144">
                  <a:extLst>
                    <a:ext uri="{9D8B030D-6E8A-4147-A177-3AD203B41FA5}">
                      <a16:colId xmlns:a16="http://schemas.microsoft.com/office/drawing/2014/main" val="1200922911"/>
                    </a:ext>
                  </a:extLst>
                </a:gridCol>
                <a:gridCol w="833243">
                  <a:extLst>
                    <a:ext uri="{9D8B030D-6E8A-4147-A177-3AD203B41FA5}">
                      <a16:colId xmlns:a16="http://schemas.microsoft.com/office/drawing/2014/main" val="1161849445"/>
                    </a:ext>
                  </a:extLst>
                </a:gridCol>
                <a:gridCol w="832404">
                  <a:extLst>
                    <a:ext uri="{9D8B030D-6E8A-4147-A177-3AD203B41FA5}">
                      <a16:colId xmlns:a16="http://schemas.microsoft.com/office/drawing/2014/main" val="913889214"/>
                    </a:ext>
                  </a:extLst>
                </a:gridCol>
                <a:gridCol w="1070713">
                  <a:extLst>
                    <a:ext uri="{9D8B030D-6E8A-4147-A177-3AD203B41FA5}">
                      <a16:colId xmlns:a16="http://schemas.microsoft.com/office/drawing/2014/main" val="713340964"/>
                    </a:ext>
                  </a:extLst>
                </a:gridCol>
                <a:gridCol w="956595">
                  <a:extLst>
                    <a:ext uri="{9D8B030D-6E8A-4147-A177-3AD203B41FA5}">
                      <a16:colId xmlns:a16="http://schemas.microsoft.com/office/drawing/2014/main" val="2026678202"/>
                    </a:ext>
                  </a:extLst>
                </a:gridCol>
                <a:gridCol w="1069875">
                  <a:extLst>
                    <a:ext uri="{9D8B030D-6E8A-4147-A177-3AD203B41FA5}">
                      <a16:colId xmlns:a16="http://schemas.microsoft.com/office/drawing/2014/main" val="2434766938"/>
                    </a:ext>
                  </a:extLst>
                </a:gridCol>
                <a:gridCol w="1070713">
                  <a:extLst>
                    <a:ext uri="{9D8B030D-6E8A-4147-A177-3AD203B41FA5}">
                      <a16:colId xmlns:a16="http://schemas.microsoft.com/office/drawing/2014/main" val="1474405685"/>
                    </a:ext>
                  </a:extLst>
                </a:gridCol>
                <a:gridCol w="1070713">
                  <a:extLst>
                    <a:ext uri="{9D8B030D-6E8A-4147-A177-3AD203B41FA5}">
                      <a16:colId xmlns:a16="http://schemas.microsoft.com/office/drawing/2014/main" val="2134500464"/>
                    </a:ext>
                  </a:extLst>
                </a:gridCol>
              </a:tblGrid>
              <a:tr h="214437">
                <a:tc>
                  <a:txBody>
                    <a:bodyPr/>
                    <a:lstStyle/>
                    <a:p>
                      <a:pPr>
                        <a:lnSpc>
                          <a:spcPct val="115000"/>
                        </a:lnSpc>
                        <a:spcAft>
                          <a:spcPts val="1000"/>
                        </a:spcAft>
                      </a:pPr>
                      <a:r>
                        <a:rPr lang="ru-RU" sz="1000">
                          <a:effectLst/>
                        </a:rPr>
                        <a:t>Статьи расходов</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Сентябрь</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Октябрь 1-15</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Октябрь 16-30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Ноябрь 1-15</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Ноябрь 16-30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Декабрь 1-15</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Декабрь 16-20</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1091672579"/>
                  </a:ext>
                </a:extLst>
              </a:tr>
              <a:tr h="661196">
                <a:tc>
                  <a:txBody>
                    <a:bodyPr/>
                    <a:lstStyle/>
                    <a:p>
                      <a:pPr>
                        <a:lnSpc>
                          <a:spcPct val="115000"/>
                        </a:lnSpc>
                        <a:spcAft>
                          <a:spcPts val="1000"/>
                        </a:spcAft>
                      </a:pPr>
                      <a:r>
                        <a:rPr lang="ru-RU" sz="1000">
                          <a:effectLst/>
                        </a:rPr>
                        <a:t>1. Организационные расходы на переговоры с заказчиком и составление ТЗ</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2000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1000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dirty="0">
                          <a:effectLst/>
                        </a:rPr>
                        <a:t> </a:t>
                      </a:r>
                      <a:endParaRPr lang="ru-RU" sz="1100" dirty="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3221580562"/>
                  </a:ext>
                </a:extLst>
              </a:tr>
              <a:tr h="437817">
                <a:tc>
                  <a:txBody>
                    <a:bodyPr/>
                    <a:lstStyle/>
                    <a:p>
                      <a:pPr>
                        <a:lnSpc>
                          <a:spcPct val="115000"/>
                        </a:lnSpc>
                        <a:spcAft>
                          <a:spcPts val="1000"/>
                        </a:spcAft>
                      </a:pPr>
                      <a:r>
                        <a:rPr lang="ru-RU" sz="1000">
                          <a:effectLst/>
                        </a:rPr>
                        <a:t>2. Зарплата сотрудников на разработку КД на КСИ</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8000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20000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4000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1465149455"/>
                  </a:ext>
                </a:extLst>
              </a:tr>
              <a:tr h="437817">
                <a:tc>
                  <a:txBody>
                    <a:bodyPr/>
                    <a:lstStyle/>
                    <a:p>
                      <a:pPr>
                        <a:lnSpc>
                          <a:spcPct val="115000"/>
                        </a:lnSpc>
                        <a:spcAft>
                          <a:spcPts val="1000"/>
                        </a:spcAft>
                      </a:pPr>
                      <a:r>
                        <a:rPr lang="ru-RU" sz="1000">
                          <a:effectLst/>
                        </a:rPr>
                        <a:t>3. Зарплата сотрудников на разработку ПО на ЭВМ</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20000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1836718301"/>
                  </a:ext>
                </a:extLst>
              </a:tr>
              <a:tr h="437817">
                <a:tc>
                  <a:txBody>
                    <a:bodyPr/>
                    <a:lstStyle/>
                    <a:p>
                      <a:pPr>
                        <a:lnSpc>
                          <a:spcPct val="115000"/>
                        </a:lnSpc>
                        <a:spcAft>
                          <a:spcPts val="1000"/>
                        </a:spcAft>
                      </a:pPr>
                      <a:r>
                        <a:rPr lang="ru-RU" sz="1000">
                          <a:effectLst/>
                        </a:rPr>
                        <a:t>4. Зарплата сотрудников на разработку ПО на МК</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15000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3478306751"/>
                  </a:ext>
                </a:extLst>
              </a:tr>
              <a:tr h="437817">
                <a:tc>
                  <a:txBody>
                    <a:bodyPr/>
                    <a:lstStyle/>
                    <a:p>
                      <a:pPr>
                        <a:lnSpc>
                          <a:spcPct val="115000"/>
                        </a:lnSpc>
                        <a:spcAft>
                          <a:spcPts val="1000"/>
                        </a:spcAft>
                      </a:pPr>
                      <a:r>
                        <a:rPr lang="ru-RU" sz="1000">
                          <a:effectLst/>
                        </a:rPr>
                        <a:t>5. Зарплата сотрудников на проверку документации</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10000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1000</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2645245012"/>
                  </a:ext>
                </a:extLst>
              </a:tr>
              <a:tr h="214437">
                <a:tc>
                  <a:txBody>
                    <a:bodyPr/>
                    <a:lstStyle/>
                    <a:p>
                      <a:pPr>
                        <a:lnSpc>
                          <a:spcPct val="115000"/>
                        </a:lnSpc>
                        <a:spcAft>
                          <a:spcPts val="1000"/>
                        </a:spcAft>
                      </a:pPr>
                      <a:r>
                        <a:rPr lang="ru-RU" sz="1000">
                          <a:effectLst/>
                        </a:rPr>
                        <a:t>6. Стоимость компонентов</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25000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412863259"/>
                  </a:ext>
                </a:extLst>
              </a:tr>
              <a:tr h="326127">
                <a:tc>
                  <a:txBody>
                    <a:bodyPr/>
                    <a:lstStyle/>
                    <a:p>
                      <a:pPr>
                        <a:lnSpc>
                          <a:spcPct val="115000"/>
                        </a:lnSpc>
                        <a:spcAft>
                          <a:spcPts val="1000"/>
                        </a:spcAft>
                      </a:pPr>
                      <a:r>
                        <a:rPr lang="ru-RU" sz="1000">
                          <a:effectLst/>
                        </a:rPr>
                        <a:t>7. Сборка и модификация макета</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8000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2000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2000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4078989481"/>
                  </a:ext>
                </a:extLst>
              </a:tr>
              <a:tr h="326127">
                <a:tc>
                  <a:txBody>
                    <a:bodyPr/>
                    <a:lstStyle/>
                    <a:p>
                      <a:pPr>
                        <a:lnSpc>
                          <a:spcPct val="115000"/>
                        </a:lnSpc>
                        <a:spcAft>
                          <a:spcPts val="1000"/>
                        </a:spcAft>
                      </a:pPr>
                      <a:r>
                        <a:rPr lang="ru-RU" sz="1000">
                          <a:effectLst/>
                        </a:rPr>
                        <a:t>8. Проведение испытаний макета</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10000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4000</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2062781634"/>
                  </a:ext>
                </a:extLst>
              </a:tr>
              <a:tr h="326127">
                <a:tc>
                  <a:txBody>
                    <a:bodyPr/>
                    <a:lstStyle/>
                    <a:p>
                      <a:pPr>
                        <a:lnSpc>
                          <a:spcPct val="115000"/>
                        </a:lnSpc>
                        <a:spcAft>
                          <a:spcPts val="1000"/>
                        </a:spcAft>
                      </a:pPr>
                      <a:r>
                        <a:rPr lang="ru-RU" sz="1000">
                          <a:effectLst/>
                        </a:rPr>
                        <a:t>9. Обучение персонала предприятия</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10000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5000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 </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81804220"/>
                  </a:ext>
                </a:extLst>
              </a:tr>
              <a:tr h="102747">
                <a:tc>
                  <a:txBody>
                    <a:bodyPr/>
                    <a:lstStyle/>
                    <a:p>
                      <a:pPr>
                        <a:lnSpc>
                          <a:spcPct val="115000"/>
                        </a:lnSpc>
                        <a:spcAft>
                          <a:spcPts val="1000"/>
                        </a:spcAft>
                      </a:pPr>
                      <a:r>
                        <a:rPr lang="ru-RU" sz="1000">
                          <a:effectLst/>
                        </a:rPr>
                        <a:t>10. Резерв</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3500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3500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3500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3500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3500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3500</a:t>
                      </a:r>
                      <a:endParaRPr lang="ru-RU" sz="1100">
                        <a:effectLst/>
                        <a:latin typeface="Times New Roman" panose="02020603050405020304" pitchFamily="18" charset="0"/>
                        <a:ea typeface="Calibri" panose="020F0502020204030204" pitchFamily="34" charset="0"/>
                      </a:endParaRPr>
                    </a:p>
                  </a:txBody>
                  <a:tcPr marL="43705" marR="43705" marT="0" marB="0"/>
                </a:tc>
                <a:tc>
                  <a:txBody>
                    <a:bodyPr/>
                    <a:lstStyle/>
                    <a:p>
                      <a:pPr>
                        <a:lnSpc>
                          <a:spcPct val="115000"/>
                        </a:lnSpc>
                        <a:spcAft>
                          <a:spcPts val="1000"/>
                        </a:spcAft>
                      </a:pPr>
                      <a:r>
                        <a:rPr lang="ru-RU" sz="1000">
                          <a:effectLst/>
                        </a:rPr>
                        <a:t>4000</a:t>
                      </a:r>
                      <a:endParaRPr lang="ru-RU" sz="1100">
                        <a:effectLst/>
                        <a:latin typeface="Times New Roman" panose="02020603050405020304" pitchFamily="18" charset="0"/>
                        <a:ea typeface="Calibri" panose="020F0502020204030204" pitchFamily="34" charset="0"/>
                      </a:endParaRPr>
                    </a:p>
                  </a:txBody>
                  <a:tcPr marL="43705" marR="43705" marT="0" marB="0"/>
                </a:tc>
                <a:extLst>
                  <a:ext uri="{0D108BD9-81ED-4DB2-BD59-A6C34878D82A}">
                    <a16:rowId xmlns:a16="http://schemas.microsoft.com/office/drawing/2014/main" val="1127379808"/>
                  </a:ext>
                </a:extLst>
              </a:tr>
              <a:tr h="214437">
                <a:tc>
                  <a:txBody>
                    <a:bodyPr/>
                    <a:lstStyle/>
                    <a:p>
                      <a:pPr>
                        <a:lnSpc>
                          <a:spcPct val="115000"/>
                        </a:lnSpc>
                        <a:spcAft>
                          <a:spcPts val="1000"/>
                        </a:spcAft>
                      </a:pPr>
                      <a:r>
                        <a:rPr lang="ru-RU" sz="1000">
                          <a:effectLst/>
                        </a:rPr>
                        <a:t>ИТОГО РАСХОДОВ (Ʃ)</a:t>
                      </a:r>
                      <a:endParaRPr lang="ru-RU" sz="1100">
                        <a:effectLst/>
                        <a:latin typeface="Times New Roman" panose="02020603050405020304" pitchFamily="18" charset="0"/>
                        <a:ea typeface="Calibri" panose="020F0502020204030204" pitchFamily="34" charset="0"/>
                      </a:endParaRPr>
                    </a:p>
                  </a:txBody>
                  <a:tcPr marL="43705" marR="43705" marT="0" marB="0"/>
                </a:tc>
                <a:tc gridSpan="7">
                  <a:txBody>
                    <a:bodyPr/>
                    <a:lstStyle/>
                    <a:p>
                      <a:pPr>
                        <a:lnSpc>
                          <a:spcPct val="115000"/>
                        </a:lnSpc>
                        <a:spcAft>
                          <a:spcPts val="1000"/>
                        </a:spcAft>
                      </a:pPr>
                      <a:r>
                        <a:rPr lang="ru-RU" sz="1000">
                          <a:effectLst/>
                        </a:rPr>
                        <a:t>175 000 руб. </a:t>
                      </a:r>
                      <a:endParaRPr lang="ru-RU" sz="1100">
                        <a:effectLst/>
                        <a:latin typeface="Times New Roman" panose="02020603050405020304" pitchFamily="18" charset="0"/>
                        <a:ea typeface="Calibri" panose="020F0502020204030204" pitchFamily="34" charset="0"/>
                      </a:endParaRPr>
                    </a:p>
                  </a:txBody>
                  <a:tcPr marL="43705" marR="43705"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760968301"/>
                  </a:ext>
                </a:extLst>
              </a:tr>
              <a:tr h="214437">
                <a:tc>
                  <a:txBody>
                    <a:bodyPr/>
                    <a:lstStyle/>
                    <a:p>
                      <a:pPr>
                        <a:lnSpc>
                          <a:spcPct val="115000"/>
                        </a:lnSpc>
                        <a:spcAft>
                          <a:spcPts val="1000"/>
                        </a:spcAft>
                      </a:pPr>
                      <a:r>
                        <a:rPr lang="ru-RU" sz="1000">
                          <a:effectLst/>
                        </a:rPr>
                        <a:t>Источники доходов</a:t>
                      </a:r>
                      <a:endParaRPr lang="ru-RU" sz="1100">
                        <a:effectLst/>
                        <a:latin typeface="Times New Roman" panose="02020603050405020304" pitchFamily="18" charset="0"/>
                        <a:ea typeface="Calibri" panose="020F0502020204030204" pitchFamily="34" charset="0"/>
                      </a:endParaRPr>
                    </a:p>
                  </a:txBody>
                  <a:tcPr marL="43705" marR="43705" marT="0" marB="0"/>
                </a:tc>
                <a:tc gridSpan="7">
                  <a:txBody>
                    <a:bodyPr/>
                    <a:lstStyle/>
                    <a:p>
                      <a:pPr>
                        <a:lnSpc>
                          <a:spcPct val="115000"/>
                        </a:lnSpc>
                        <a:spcAft>
                          <a:spcPts val="1000"/>
                        </a:spcAft>
                      </a:pPr>
                      <a:r>
                        <a:rPr lang="ru-RU" sz="1000" dirty="0">
                          <a:effectLst/>
                        </a:rPr>
                        <a:t>Средства заказчика (200 000 руб.) </a:t>
                      </a:r>
                      <a:endParaRPr lang="ru-RU" sz="1100" dirty="0">
                        <a:effectLst/>
                        <a:latin typeface="Times New Roman" panose="02020603050405020304" pitchFamily="18" charset="0"/>
                        <a:ea typeface="Calibri" panose="020F0502020204030204" pitchFamily="34" charset="0"/>
                      </a:endParaRPr>
                    </a:p>
                  </a:txBody>
                  <a:tcPr marL="43705" marR="43705"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86949333"/>
                  </a:ext>
                </a:extLst>
              </a:tr>
            </a:tbl>
          </a:graphicData>
        </a:graphic>
      </p:graphicFrame>
    </p:spTree>
    <p:extLst>
      <p:ext uri="{BB962C8B-B14F-4D97-AF65-F5344CB8AC3E}">
        <p14:creationId xmlns:p14="http://schemas.microsoft.com/office/powerpoint/2010/main" val="1732326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5148FA-00B7-4CA7-AB25-FE60650C09EB}"/>
              </a:ext>
            </a:extLst>
          </p:cNvPr>
          <p:cNvSpPr>
            <a:spLocks noGrp="1"/>
          </p:cNvSpPr>
          <p:nvPr>
            <p:ph type="title"/>
          </p:nvPr>
        </p:nvSpPr>
        <p:spPr>
          <a:xfrm>
            <a:off x="466197" y="93379"/>
            <a:ext cx="9255970" cy="1206715"/>
          </a:xfrm>
        </p:spPr>
        <p:txBody>
          <a:bodyPr/>
          <a:lstStyle/>
          <a:p>
            <a:r>
              <a:rPr lang="ru-RU" dirty="0"/>
              <a:t>Процедуры сотрудничества между участниками проекта</a:t>
            </a:r>
          </a:p>
        </p:txBody>
      </p:sp>
      <p:sp>
        <p:nvSpPr>
          <p:cNvPr id="3" name="Текст 2">
            <a:extLst>
              <a:ext uri="{FF2B5EF4-FFF2-40B4-BE49-F238E27FC236}">
                <a16:creationId xmlns:a16="http://schemas.microsoft.com/office/drawing/2014/main" id="{46804076-BDBA-43CE-9178-F2047A272B67}"/>
              </a:ext>
            </a:extLst>
          </p:cNvPr>
          <p:cNvSpPr>
            <a:spLocks noGrp="1"/>
          </p:cNvSpPr>
          <p:nvPr>
            <p:ph type="body" sz="quarter" idx="12"/>
          </p:nvPr>
        </p:nvSpPr>
        <p:spPr/>
        <p:txBody>
          <a:bodyPr/>
          <a:lstStyle/>
          <a:p>
            <a:endParaRPr lang="ru-RU" dirty="0"/>
          </a:p>
        </p:txBody>
      </p:sp>
      <p:pic>
        <p:nvPicPr>
          <p:cNvPr id="5" name="Рисунок 4">
            <a:extLst>
              <a:ext uri="{FF2B5EF4-FFF2-40B4-BE49-F238E27FC236}">
                <a16:creationId xmlns:a16="http://schemas.microsoft.com/office/drawing/2014/main" id="{30E1A725-46DE-4C77-AF0F-B450F51CC589}"/>
              </a:ext>
            </a:extLst>
          </p:cNvPr>
          <p:cNvPicPr>
            <a:picLocks noChangeAspect="1"/>
          </p:cNvPicPr>
          <p:nvPr/>
        </p:nvPicPr>
        <p:blipFill>
          <a:blip r:embed="rId2"/>
          <a:stretch>
            <a:fillRect/>
          </a:stretch>
        </p:blipFill>
        <p:spPr>
          <a:xfrm>
            <a:off x="761472" y="1294250"/>
            <a:ext cx="10855140" cy="4300469"/>
          </a:xfrm>
          <a:prstGeom prst="rect">
            <a:avLst/>
          </a:prstGeom>
        </p:spPr>
      </p:pic>
    </p:spTree>
    <p:extLst>
      <p:ext uri="{BB962C8B-B14F-4D97-AF65-F5344CB8AC3E}">
        <p14:creationId xmlns:p14="http://schemas.microsoft.com/office/powerpoint/2010/main" val="2446268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2EC55D-0D31-6257-B2C8-ECE4DC102ACC}"/>
              </a:ext>
            </a:extLst>
          </p:cNvPr>
          <p:cNvSpPr>
            <a:spLocks noGrp="1"/>
          </p:cNvSpPr>
          <p:nvPr>
            <p:ph type="title"/>
          </p:nvPr>
        </p:nvSpPr>
        <p:spPr>
          <a:xfrm>
            <a:off x="457197" y="587901"/>
            <a:ext cx="9710533" cy="1206715"/>
          </a:xfrm>
        </p:spPr>
        <p:txBody>
          <a:bodyPr/>
          <a:lstStyle/>
          <a:p>
            <a:r>
              <a:rPr lang="ru-RU" dirty="0"/>
              <a:t>Результаты</a:t>
            </a:r>
          </a:p>
        </p:txBody>
      </p:sp>
      <p:sp>
        <p:nvSpPr>
          <p:cNvPr id="3" name="Текст 2">
            <a:extLst>
              <a:ext uri="{FF2B5EF4-FFF2-40B4-BE49-F238E27FC236}">
                <a16:creationId xmlns:a16="http://schemas.microsoft.com/office/drawing/2014/main" id="{89DD551A-A423-3C9A-CF4C-7C59A2DB938B}"/>
              </a:ext>
            </a:extLst>
          </p:cNvPr>
          <p:cNvSpPr>
            <a:spLocks noGrp="1"/>
          </p:cNvSpPr>
          <p:nvPr>
            <p:ph type="body" sz="quarter" idx="12"/>
          </p:nvPr>
        </p:nvSpPr>
        <p:spPr>
          <a:xfrm>
            <a:off x="772510" y="1688306"/>
            <a:ext cx="7061803" cy="3843338"/>
          </a:xfrm>
        </p:spPr>
        <p:txBody>
          <a:bodyPr lIns="91440" tIns="45720" rIns="91440" bIns="45720" anchor="t"/>
          <a:lstStyle/>
          <a:p>
            <a:pPr>
              <a:spcBef>
                <a:spcPts val="1200"/>
              </a:spcBef>
              <a:buFont typeface="+mj-lt"/>
              <a:buAutoNum type="arabicPeriod"/>
            </a:pPr>
            <a:r>
              <a:rPr lang="ru-RU" dirty="0">
                <a:latin typeface="+mn-lt"/>
                <a:cs typeface="Calibri"/>
              </a:rPr>
              <a:t>Ознакомились с основными этапами инициации проекта: (цель проекта, продукт проекта, критерии успеха, участники проекта)</a:t>
            </a:r>
          </a:p>
          <a:p>
            <a:pPr>
              <a:spcBef>
                <a:spcPts val="1200"/>
              </a:spcBef>
              <a:buFont typeface="+mj-lt"/>
              <a:buAutoNum type="arabicPeriod"/>
            </a:pPr>
            <a:r>
              <a:rPr lang="ru-RU" dirty="0">
                <a:cs typeface="Calibri"/>
              </a:rPr>
              <a:t>Ознакомились с основными этапами планирования проекта: (ИСР, диаграмма </a:t>
            </a:r>
            <a:r>
              <a:rPr lang="ru-RU" dirty="0" err="1">
                <a:cs typeface="Calibri"/>
              </a:rPr>
              <a:t>Ганта</a:t>
            </a:r>
            <a:r>
              <a:rPr lang="ru-RU" dirty="0">
                <a:cs typeface="Calibri"/>
              </a:rPr>
              <a:t>, матрица ответственностей, план коммуникаций, оценка рисков проекта, бюджет проекта)</a:t>
            </a:r>
          </a:p>
          <a:p>
            <a:pPr>
              <a:spcBef>
                <a:spcPts val="1200"/>
              </a:spcBef>
              <a:buFont typeface="+mj-lt"/>
              <a:buAutoNum type="arabicPeriod"/>
            </a:pPr>
            <a:r>
              <a:rPr lang="ru-RU" dirty="0">
                <a:cs typeface="Calibri"/>
              </a:rPr>
              <a:t>Применили знания на практике при помощи планирования проекта «Коммутационная </a:t>
            </a:r>
            <a:r>
              <a:rPr lang="ru-RU">
                <a:cs typeface="Calibri"/>
              </a:rPr>
              <a:t>схема управления»</a:t>
            </a:r>
            <a:endParaRPr lang="ru-RU" dirty="0">
              <a:cs typeface="Calibri"/>
            </a:endParaRPr>
          </a:p>
          <a:p>
            <a:pPr>
              <a:spcBef>
                <a:spcPts val="1200"/>
              </a:spcBef>
              <a:buFont typeface="+mj-lt"/>
              <a:buAutoNum type="arabicPeriod"/>
            </a:pPr>
            <a:endParaRPr lang="ru-RU" dirty="0">
              <a:latin typeface="+mn-lt"/>
              <a:cs typeface="Calibri"/>
            </a:endParaRP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4313" y="1466850"/>
            <a:ext cx="2719090"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5866930"/>
      </p:ext>
    </p:extLst>
  </p:cSld>
  <p:clrMapOvr>
    <a:masterClrMapping/>
  </p:clrMapOvr>
  <p:extLst mod="1">
    <p:ext uri="{6950BFC3-D8DA-4A85-94F7-54DA5524770B}">
      <p188:commentRel xmlns:p188="http://schemas.microsoft.com/office/powerpoint/2018/8/main" xmlns="" r:id="rId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0"/>
          </p:nvPr>
        </p:nvSpPr>
        <p:spPr>
          <a:xfrm>
            <a:off x="2590799" y="2837226"/>
            <a:ext cx="7745897" cy="1404940"/>
          </a:xfrm>
        </p:spPr>
        <p:txBody>
          <a:bodyPr/>
          <a:lstStyle/>
          <a:p>
            <a:r>
              <a:rPr lang="ru-RU" sz="6000" i="1" dirty="0"/>
              <a:t>Спасибо за внимание!</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197" y="587901"/>
            <a:ext cx="7682951" cy="1206715"/>
          </a:xfrm>
        </p:spPr>
        <p:txBody>
          <a:bodyPr lIns="91440" tIns="45720" rIns="91440" bIns="45720" anchor="t"/>
          <a:lstStyle/>
          <a:p>
            <a:endParaRPr lang="ru-RU" sz="3200" dirty="0">
              <a:latin typeface="+mj-lt"/>
            </a:endParaRPr>
          </a:p>
        </p:txBody>
      </p:sp>
      <p:sp>
        <p:nvSpPr>
          <p:cNvPr id="3" name="Текст 2"/>
          <p:cNvSpPr>
            <a:spLocks noGrp="1"/>
          </p:cNvSpPr>
          <p:nvPr>
            <p:ph type="body" sz="quarter" idx="11"/>
          </p:nvPr>
        </p:nvSpPr>
        <p:spPr/>
        <p:txBody>
          <a:bodyPr/>
          <a:lstStyle/>
          <a:p>
            <a:pPr indent="0">
              <a:buNone/>
            </a:pPr>
            <a:endParaRPr lang="ru-RU" dirty="0"/>
          </a:p>
        </p:txBody>
      </p:sp>
      <p:sp>
        <p:nvSpPr>
          <p:cNvPr id="4" name="Текст 3"/>
          <p:cNvSpPr>
            <a:spLocks noGrp="1"/>
          </p:cNvSpPr>
          <p:nvPr>
            <p:ph type="body" sz="quarter" idx="12"/>
          </p:nvPr>
        </p:nvSpPr>
        <p:spPr/>
        <p:txBody>
          <a:bodyPr/>
          <a:lstStyle/>
          <a:p>
            <a:pPr marL="0" indent="0">
              <a:spcBef>
                <a:spcPts val="1200"/>
              </a:spcBef>
            </a:pPr>
            <a:endParaRPr lang="ru-RU" dirty="0"/>
          </a:p>
        </p:txBody>
      </p:sp>
    </p:spTree>
    <p:extLst>
      <p:ext uri="{BB962C8B-B14F-4D97-AF65-F5344CB8AC3E}">
        <p14:creationId xmlns:p14="http://schemas.microsoft.com/office/powerpoint/2010/main" val="2706343481"/>
      </p:ext>
    </p:extLst>
  </p:cSld>
  <p:clrMapOvr>
    <a:masterClrMapping/>
  </p:clrMapOvr>
</p:sld>
</file>

<file path=ppt/theme/theme1.xml><?xml version="1.0" encoding="utf-8"?>
<a:theme xmlns:a="http://schemas.openxmlformats.org/drawingml/2006/main" name="Титульный слайд 1">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итульный слайд 2">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2393</TotalTime>
  <Words>631</Words>
  <Application>Microsoft Office PowerPoint</Application>
  <PresentationFormat>Широкоэкранный</PresentationFormat>
  <Paragraphs>196</Paragraphs>
  <Slides>11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3</vt:i4>
      </vt:variant>
      <vt:variant>
        <vt:lpstr>Заголовки слайдов</vt:lpstr>
      </vt:variant>
      <vt:variant>
        <vt:i4>11</vt:i4>
      </vt:variant>
    </vt:vector>
  </HeadingPairs>
  <TitlesOfParts>
    <vt:vector size="17" baseType="lpstr">
      <vt:lpstr>Arial</vt:lpstr>
      <vt:lpstr>Times New Roman</vt:lpstr>
      <vt:lpstr>Calibri</vt:lpstr>
      <vt:lpstr>Титульный слайд 1</vt:lpstr>
      <vt:lpstr>Титульный слайд 2</vt:lpstr>
      <vt:lpstr>Специальное оформление</vt:lpstr>
      <vt:lpstr>Презентация PowerPoint</vt:lpstr>
      <vt:lpstr>Коммутационная схема управления</vt:lpstr>
      <vt:lpstr>Цели и задачи</vt:lpstr>
      <vt:lpstr>ИСР</vt:lpstr>
      <vt:lpstr>Диаграмма Ганта</vt:lpstr>
      <vt:lpstr>Риски проекта</vt:lpstr>
      <vt:lpstr>Бюджет проекта</vt:lpstr>
      <vt:lpstr>Процедуры сотрудничества между участниками проекта</vt:lpstr>
      <vt:lpstr>Результаты</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Исмагилов Айнур</dc:creator>
  <cp:lastModifiedBy>Сергей Митрофанов</cp:lastModifiedBy>
  <cp:revision>594</cp:revision>
  <dcterms:created xsi:type="dcterms:W3CDTF">2021-09-23T08:50:59Z</dcterms:created>
  <dcterms:modified xsi:type="dcterms:W3CDTF">2024-12-24T08:51:29Z</dcterms:modified>
</cp:coreProperties>
</file>